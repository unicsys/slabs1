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2" r:id="rId6"/>
    <p:sldId id="263" r:id="rId7"/>
    <p:sldId id="264" r:id="rId8"/>
    <p:sldId id="261"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09" autoAdjust="0"/>
    <p:restoredTop sz="94660"/>
  </p:normalViewPr>
  <p:slideViewPr>
    <p:cSldViewPr snapToGrid="0">
      <p:cViewPr varScale="1">
        <p:scale>
          <a:sx n="93" d="100"/>
          <a:sy n="93" d="100"/>
        </p:scale>
        <p:origin x="1036" y="2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F6D8-57FA-D892-0498-D8D4D19902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CA8CB7-B0A9-15D9-3440-09DE3DE1F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F17572-89FB-C1DD-5839-2107751815EB}"/>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060303C9-B5C4-B663-3563-2A9626516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49797-9DF4-6DA3-6CC3-AF51EFE887F5}"/>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85504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C991F-F5CB-160D-A00B-4D5D6D5E8E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4DB951-01F6-1D1F-1AD9-546B239700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B4DE2-5B56-5107-6EB5-5C4C7A3EDD46}"/>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722BEF06-67EF-F220-45D9-E49475D16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8FCEA-A179-E41F-FFC5-359E474490A3}"/>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1848353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588A-7A93-6436-8B10-EB396458F3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BCF2C4-382D-1B06-F0C4-DFA80DE65F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B09F2E-79C3-4424-2E44-1D48BAD31F32}"/>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5A5E35EB-CCBD-80FE-2C3C-573E6B6A1B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B73EF-1F0E-9000-A8C9-F4B9FD4A97EC}"/>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4179585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CE69-59DE-FD9E-61F1-F7A93C62D1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026344-2E4F-5CC2-7DEB-40C5AC8C5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4222E-2A34-0793-D0C5-EE644076C9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CBD68D-C95A-8190-1CB4-50E5DF8F320F}"/>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6" name="Footer Placeholder 5">
            <a:extLst>
              <a:ext uri="{FF2B5EF4-FFF2-40B4-BE49-F238E27FC236}">
                <a16:creationId xmlns:a16="http://schemas.microsoft.com/office/drawing/2014/main" id="{45DF1019-B5D8-7C39-F8BA-D2A44ECDB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870C2B-2B2B-398D-659D-1E1B962479BF}"/>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4559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2F7CB-A2F3-99B4-3CF1-F33FE5D2F6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DC9C7B-4E0D-32DF-F025-3D5CD08DF3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4972C3-C201-0E35-65D9-6E48197EC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9D421B-B4B9-563A-6CEF-2CA88BC359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7A8FF4-A36B-0831-5536-8615CD308E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EB0EB1-AF37-B076-0F28-76D415208182}"/>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8" name="Footer Placeholder 7">
            <a:extLst>
              <a:ext uri="{FF2B5EF4-FFF2-40B4-BE49-F238E27FC236}">
                <a16:creationId xmlns:a16="http://schemas.microsoft.com/office/drawing/2014/main" id="{58B5BC67-2BC4-4F7C-4195-B3A8CC361D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65082A-6324-B73F-13AB-43998F77BA6C}"/>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915668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1EE4-BF77-796D-9951-BEBBAEA14D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B234C7-BB95-16C9-7384-1F2B4A76217F}"/>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4" name="Footer Placeholder 3">
            <a:extLst>
              <a:ext uri="{FF2B5EF4-FFF2-40B4-BE49-F238E27FC236}">
                <a16:creationId xmlns:a16="http://schemas.microsoft.com/office/drawing/2014/main" id="{44E1C165-32A5-73CE-0C1F-7597AB8D3B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0F4F14-313C-B605-B8AD-91AFED8C5D2E}"/>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1029217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5532A1-88AA-841F-DF3D-F216D60DD000}"/>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3" name="Footer Placeholder 2">
            <a:extLst>
              <a:ext uri="{FF2B5EF4-FFF2-40B4-BE49-F238E27FC236}">
                <a16:creationId xmlns:a16="http://schemas.microsoft.com/office/drawing/2014/main" id="{0A1EE00C-979E-949A-5595-C3DC50322E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DC84F-66D1-F22C-7DD6-38224B559FFA}"/>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333620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593A-8EE3-FCC0-3C85-583182334D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2C4300-D526-0BEA-6CAC-5606CF14D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D47C24-7C5D-19C4-B022-5451ED58C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3A4A63-6FE9-DEDE-A69B-A51A09066678}"/>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6" name="Footer Placeholder 5">
            <a:extLst>
              <a:ext uri="{FF2B5EF4-FFF2-40B4-BE49-F238E27FC236}">
                <a16:creationId xmlns:a16="http://schemas.microsoft.com/office/drawing/2014/main" id="{A7EBFB03-64A7-B9E6-1C56-04146A2883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C2157-BCFC-3F35-56A5-519D77D30A7B}"/>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8992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B752E-842E-B7E6-7CAD-3DDC22E716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13E9B8-84CB-AD58-AAEC-4ABFF0D470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4422EE-F7D2-68ED-A787-E73694F9B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166879-9AE0-9CC1-B2AE-506D0671D1DF}"/>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6" name="Footer Placeholder 5">
            <a:extLst>
              <a:ext uri="{FF2B5EF4-FFF2-40B4-BE49-F238E27FC236}">
                <a16:creationId xmlns:a16="http://schemas.microsoft.com/office/drawing/2014/main" id="{0D811EC6-44BB-D6AD-3386-73B041A5F3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450F1C-D5B3-95D6-61D7-08B4B8CB2825}"/>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95488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4E78C-BB58-091D-49A6-1D6D8BE161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686679-08C4-3495-5D44-818DACA5A6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5589A-6382-B8F8-CE5C-482550BBCD8C}"/>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4AAA0C97-85C2-6D06-B407-0EAA30670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8D786-F2C5-F628-212D-0F02CA446B36}"/>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391917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CF5EA5-77B6-9B9D-2DE1-FAF1B74FE6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5CFE7-DDE3-EE5C-6DEA-A43874E90D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532AEE-43D2-9D2F-7539-75C01240CC08}"/>
              </a:ext>
            </a:extLst>
          </p:cNvPr>
          <p:cNvSpPr>
            <a:spLocks noGrp="1"/>
          </p:cNvSpPr>
          <p:nvPr>
            <p:ph type="dt" sz="half" idx="10"/>
          </p:nvPr>
        </p:nvSpPr>
        <p:spPr/>
        <p:txBody>
          <a:body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8C8F8B1E-F749-186D-2D58-A8955C3EE2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E20B3-7669-61C7-01D8-82BA960A4CBA}"/>
              </a:ext>
            </a:extLst>
          </p:cNvPr>
          <p:cNvSpPr>
            <a:spLocks noGrp="1"/>
          </p:cNvSpPr>
          <p:nvPr>
            <p:ph type="sldNum" sz="quarter" idx="12"/>
          </p:nvPr>
        </p:nvSpPr>
        <p:spPr/>
        <p:txBody>
          <a:bodyPr/>
          <a:lstStyle/>
          <a:p>
            <a:fld id="{9531F34A-3AE1-4E1A-B29D-407901120DF9}" type="slidenum">
              <a:rPr lang="en-US" smtClean="0"/>
              <a:t>‹#›</a:t>
            </a:fld>
            <a:endParaRPr lang="en-US"/>
          </a:p>
        </p:txBody>
      </p:sp>
    </p:spTree>
    <p:extLst>
      <p:ext uri="{BB962C8B-B14F-4D97-AF65-F5344CB8AC3E}">
        <p14:creationId xmlns:p14="http://schemas.microsoft.com/office/powerpoint/2010/main" val="253388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5E5F1-7BCA-9BF2-1541-7F54B585A8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944E6E-97C7-D55F-68D1-1C8DF763B8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5DCFA-6340-B132-A5E9-B2C4F1ECBD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E96CF2-60A5-4600-8C5C-79E093634FB7}" type="datetimeFigureOut">
              <a:rPr lang="en-US" smtClean="0"/>
              <a:t>11/21/2025</a:t>
            </a:fld>
            <a:endParaRPr lang="en-US"/>
          </a:p>
        </p:txBody>
      </p:sp>
      <p:sp>
        <p:nvSpPr>
          <p:cNvPr id="5" name="Footer Placeholder 4">
            <a:extLst>
              <a:ext uri="{FF2B5EF4-FFF2-40B4-BE49-F238E27FC236}">
                <a16:creationId xmlns:a16="http://schemas.microsoft.com/office/drawing/2014/main" id="{8DC409C2-36DA-9C65-9510-4517186715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6A6088-C9BC-DB6C-24E2-584D9E541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31F34A-3AE1-4E1A-B29D-407901120DF9}" type="slidenum">
              <a:rPr lang="en-US" smtClean="0"/>
              <a:t>‹#›</a:t>
            </a:fld>
            <a:endParaRPr lang="en-US"/>
          </a:p>
        </p:txBody>
      </p:sp>
    </p:spTree>
    <p:extLst>
      <p:ext uri="{BB962C8B-B14F-4D97-AF65-F5344CB8AC3E}">
        <p14:creationId xmlns:p14="http://schemas.microsoft.com/office/powerpoint/2010/main" val="199386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A018-D697-6DBB-7CDE-0B398B2D3CFB}"/>
              </a:ext>
            </a:extLst>
          </p:cNvPr>
          <p:cNvSpPr>
            <a:spLocks noGrp="1"/>
          </p:cNvSpPr>
          <p:nvPr>
            <p:ph type="ctrTitle"/>
          </p:nvPr>
        </p:nvSpPr>
        <p:spPr/>
        <p:txBody>
          <a:bodyPr/>
          <a:lstStyle/>
          <a:p>
            <a:r>
              <a:rPr lang="en-US" dirty="0"/>
              <a:t>Qn </a:t>
            </a:r>
            <a:r>
              <a:rPr lang="en-US"/>
              <a:t>note presentation</a:t>
            </a:r>
          </a:p>
        </p:txBody>
      </p:sp>
      <p:sp>
        <p:nvSpPr>
          <p:cNvPr id="3" name="Subtitle 2">
            <a:extLst>
              <a:ext uri="{FF2B5EF4-FFF2-40B4-BE49-F238E27FC236}">
                <a16:creationId xmlns:a16="http://schemas.microsoft.com/office/drawing/2014/main" id="{732BD9D4-E184-946C-1F2A-5FEFCFAEEA5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7222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CC4F-5997-295C-8C94-F7AACF7FA2A4}"/>
              </a:ext>
            </a:extLst>
          </p:cNvPr>
          <p:cNvSpPr>
            <a:spLocks noGrp="1"/>
          </p:cNvSpPr>
          <p:nvPr>
            <p:ph type="title"/>
          </p:nvPr>
        </p:nvSpPr>
        <p:spPr/>
        <p:txBody>
          <a:bodyPr/>
          <a:lstStyle/>
          <a:p>
            <a:r>
              <a:rPr lang="en-US" dirty="0"/>
              <a:t>20-minute Presentation KG + LLM</a:t>
            </a:r>
          </a:p>
        </p:txBody>
      </p:sp>
      <p:sp>
        <p:nvSpPr>
          <p:cNvPr id="3" name="Content Placeholder 2">
            <a:extLst>
              <a:ext uri="{FF2B5EF4-FFF2-40B4-BE49-F238E27FC236}">
                <a16:creationId xmlns:a16="http://schemas.microsoft.com/office/drawing/2014/main" id="{AD02DD95-D575-C5D4-D398-89D26E63A8A5}"/>
              </a:ext>
            </a:extLst>
          </p:cNvPr>
          <p:cNvSpPr>
            <a:spLocks noGrp="1"/>
          </p:cNvSpPr>
          <p:nvPr>
            <p:ph idx="1"/>
          </p:nvPr>
        </p:nvSpPr>
        <p:spPr/>
        <p:txBody>
          <a:bodyPr/>
          <a:lstStyle/>
          <a:p>
            <a:r>
              <a:rPr lang="en-US" dirty="0"/>
              <a:t>2 minutes (same page – ontology – knowledge Graph)</a:t>
            </a:r>
          </a:p>
          <a:p>
            <a:r>
              <a:rPr lang="en-US" dirty="0"/>
              <a:t>Use cases – </a:t>
            </a:r>
          </a:p>
          <a:p>
            <a:r>
              <a:rPr lang="en-US" dirty="0"/>
              <a:t>t/n – categorization – issues </a:t>
            </a:r>
          </a:p>
          <a:p>
            <a:endParaRPr lang="en-US" dirty="0"/>
          </a:p>
          <a:p>
            <a:r>
              <a:rPr lang="en-US" dirty="0"/>
              <a:t>System with AI(LLM+KG)</a:t>
            </a:r>
          </a:p>
          <a:p>
            <a:r>
              <a:rPr lang="en-US" dirty="0"/>
              <a:t>Architecture (LLM RAG , KG + LLM)</a:t>
            </a:r>
          </a:p>
          <a:p>
            <a:endParaRPr lang="en-US" dirty="0"/>
          </a:p>
        </p:txBody>
      </p:sp>
    </p:spTree>
    <p:extLst>
      <p:ext uri="{BB962C8B-B14F-4D97-AF65-F5344CB8AC3E}">
        <p14:creationId xmlns:p14="http://schemas.microsoft.com/office/powerpoint/2010/main" val="205423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7FBF-7BA1-67C7-9626-252B779606DF}"/>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BEA93936-540D-6251-6EC2-8E12DC5094D3}"/>
              </a:ext>
            </a:extLst>
          </p:cNvPr>
          <p:cNvGraphicFramePr>
            <a:graphicFrameLocks noGrp="1"/>
          </p:cNvGraphicFramePr>
          <p:nvPr>
            <p:ph idx="1"/>
            <p:extLst>
              <p:ext uri="{D42A27DB-BD31-4B8C-83A1-F6EECF244321}">
                <p14:modId xmlns:p14="http://schemas.microsoft.com/office/powerpoint/2010/main" val="3095140696"/>
              </p:ext>
            </p:extLst>
          </p:nvPr>
        </p:nvGraphicFramePr>
        <p:xfrm>
          <a:off x="1187204" y="2106931"/>
          <a:ext cx="8765633" cy="4016557"/>
        </p:xfrm>
        <a:graphic>
          <a:graphicData uri="http://schemas.openxmlformats.org/drawingml/2006/table">
            <a:tbl>
              <a:tblPr>
                <a:tableStyleId>{5C22544A-7EE6-4342-B048-85BDC9FD1C3A}</a:tableStyleId>
              </a:tblPr>
              <a:tblGrid>
                <a:gridCol w="619711">
                  <a:extLst>
                    <a:ext uri="{9D8B030D-6E8A-4147-A177-3AD203B41FA5}">
                      <a16:colId xmlns:a16="http://schemas.microsoft.com/office/drawing/2014/main" val="524288486"/>
                    </a:ext>
                  </a:extLst>
                </a:gridCol>
                <a:gridCol w="619711">
                  <a:extLst>
                    <a:ext uri="{9D8B030D-6E8A-4147-A177-3AD203B41FA5}">
                      <a16:colId xmlns:a16="http://schemas.microsoft.com/office/drawing/2014/main" val="2773023408"/>
                    </a:ext>
                  </a:extLst>
                </a:gridCol>
                <a:gridCol w="643184">
                  <a:extLst>
                    <a:ext uri="{9D8B030D-6E8A-4147-A177-3AD203B41FA5}">
                      <a16:colId xmlns:a16="http://schemas.microsoft.com/office/drawing/2014/main" val="2366182050"/>
                    </a:ext>
                  </a:extLst>
                </a:gridCol>
                <a:gridCol w="464782">
                  <a:extLst>
                    <a:ext uri="{9D8B030D-6E8A-4147-A177-3AD203B41FA5}">
                      <a16:colId xmlns:a16="http://schemas.microsoft.com/office/drawing/2014/main" val="1283881155"/>
                    </a:ext>
                  </a:extLst>
                </a:gridCol>
                <a:gridCol w="708911">
                  <a:extLst>
                    <a:ext uri="{9D8B030D-6E8A-4147-A177-3AD203B41FA5}">
                      <a16:colId xmlns:a16="http://schemas.microsoft.com/office/drawing/2014/main" val="3754279098"/>
                    </a:ext>
                  </a:extLst>
                </a:gridCol>
                <a:gridCol w="5709334">
                  <a:extLst>
                    <a:ext uri="{9D8B030D-6E8A-4147-A177-3AD203B41FA5}">
                      <a16:colId xmlns:a16="http://schemas.microsoft.com/office/drawing/2014/main" val="2136311608"/>
                    </a:ext>
                  </a:extLst>
                </a:gridCol>
              </a:tblGrid>
              <a:tr h="164593">
                <a:tc>
                  <a:txBody>
                    <a:bodyPr/>
                    <a:lstStyle/>
                    <a:p>
                      <a:pPr algn="l" fontAlgn="b">
                        <a:buNone/>
                      </a:pPr>
                      <a:r>
                        <a:rPr lang="en-US" sz="600" b="0" i="0" u="none" strike="noStrike" dirty="0">
                          <a:solidFill>
                            <a:srgbClr val="000000"/>
                          </a:solidFill>
                          <a:effectLst/>
                          <a:latin typeface="Aptos Narrow" panose="020B0004020202020204" pitchFamily="34" charset="0"/>
                        </a:rPr>
                        <a:t>Categorization</a:t>
                      </a:r>
                    </a:p>
                  </a:txBody>
                  <a:tcPr marL="3334" marR="3334" marT="3334" marB="0" anchor="b"/>
                </a:tc>
                <a:tc>
                  <a:txBody>
                    <a:bodyPr/>
                    <a:lstStyle/>
                    <a:p>
                      <a:pPr algn="l" fontAlgn="b">
                        <a:buNone/>
                      </a:pPr>
                      <a:r>
                        <a:rPr lang="en-US" sz="600" u="none" strike="noStrike">
                          <a:effectLst/>
                        </a:rPr>
                        <a:t>PROBLEM_CODE_TEXT</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DESCRIPTION</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MATERIAL</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MATERIAL_DESCRIPTION</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LONG_TEXT</a:t>
                      </a:r>
                      <a:endParaRPr lang="en-US" sz="600" b="0" i="0" u="none" strike="noStrike">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776113997"/>
                  </a:ext>
                </a:extLst>
              </a:tr>
              <a:tr h="547597">
                <a:tc>
                  <a:txBody>
                    <a:bodyPr/>
                    <a:lstStyle/>
                    <a:p>
                      <a:pPr algn="l" fontAlgn="b">
                        <a:buNone/>
                      </a:pPr>
                      <a:r>
                        <a:rPr lang="en-US" sz="6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600" u="none" strike="noStrike" dirty="0">
                          <a:effectLst/>
                        </a:rPr>
                        <a:t>Documentation/Paperwork</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MISSING CERT PACKAGE</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WHL-8844</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WHEEL ASSEMBLY</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03/09/2024 09:12:24 GMT Patrick Jackson (C28091905) 03.09.2024 09:01:10 GMT John Smith (008008) Non-conforming Part Number(detail) including configuration = 157-301-888,,WHEEL ASSEMBLY MAIN GEAR. SUPPLIER WAS SUPPOSED TO INCLUDE CERTIFICATION PACKAGE PER PO REQUIREMENTS. PACKAGE NOT FOUND IN SHIPMENT. CONTACTED SUPPLIER AND THEY CONFIRMED THEY WILL SEND VIA EMAIL BY END OF DAY. Part Sn(s):,,WH-5521, WH-5522, WH-5523 Eng. Drawing:,,334-PLT-001 Rev C NOTE: PARTS ARE IN RECEIVING HOLD AREA UNTIL PAPERWORK ARRIVES. INSPECTOR CONFIRMED QUANTITY AND PART NUMBERS MATCH PO. 03/10/2024 08:15:33 GMT Patrick Jackson (C28091905) RECEIVED EMAIL WITH CERTIFICATION PACKAGE. MRB/QA REVIEWED AND APPROVED FOR RELEASE TO STOCK.</a:t>
                      </a:r>
                      <a:endParaRPr lang="en-US" sz="600" b="0" i="0" u="none" strike="noStrike" dirty="0">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806247996"/>
                  </a:ext>
                </a:extLst>
              </a:tr>
              <a:tr h="625420">
                <a:tc>
                  <a:txBody>
                    <a:bodyPr/>
                    <a:lstStyle/>
                    <a:p>
                      <a:pPr algn="l" fontAlgn="b">
                        <a:buNone/>
                      </a:pPr>
                      <a:r>
                        <a:rPr lang="en-US" sz="6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600" u="none" strike="noStrike">
                          <a:effectLst/>
                        </a:rPr>
                        <a:t>Process Issue</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TRAVELER INCOMPLETE</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BLK-7733</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BLOCK, MOUNTING</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04/15/2024 14:22:18 GMT Sarah Williams (C29182304) 04.15.2024 14:10:05 GMT Mike Torres (009123) Part Number = 445-889-223,,MOUNTING BLOCK ASSY. MANUFACTURING TRAVELER WAS MISSING SUPERVISOR SIGNATURE ON PAGE 3 OF 5. OPERATIONS MANAGER STATES THAT SUPERVISOR WAS ON VACATION LAST WEEK WHEN PARTS WERE COMPLETED. Part Sn(s):,,BLK-9921 Eng. Drawing:,,445-889-223-001 ACTUAL: SUPERVISOR SIGNATURE MISSING FROM FINAL INSPECTION SECTION. NOTE: ALL INSPECTION STAMPS ARE PRESENT AND DATED CORRECTLY. PART APPEARS TO HAVE BEEN PROPERLY INSPECTED. REF: TRAVELER SHOWS COMPLETION DATE OF 04/08/2024. 04/16/2024 09:30:12 GMT Sarah Williams (C29182304) SUPERVISOR RETURNED FROM VACATION AND REVIEWED TRAVELER. SIGNED OFF WITH NOTE EXPLAINING LATE SIGNATURE. MRB/QA CONCURS WITH DISPOSITION.</a:t>
                      </a:r>
                      <a:endParaRPr lang="en-US" sz="600" b="0" i="0" u="none" strike="noStrike">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2061013061"/>
                  </a:ext>
                </a:extLst>
              </a:tr>
              <a:tr h="625420">
                <a:tc>
                  <a:txBody>
                    <a:bodyPr/>
                    <a:lstStyle/>
                    <a:p>
                      <a:pPr algn="l" fontAlgn="b">
                        <a:buNone/>
                      </a:pPr>
                      <a:r>
                        <a:rPr lang="en-US" sz="6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600" u="none" strike="noStrike" dirty="0">
                          <a:effectLst/>
                        </a:rPr>
                        <a:t>Administrative</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PO REVISION NOT COMMUNICATED</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STR-6655</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STRUCTURAL BEAM</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05/20/2024 10:45:33 GMT David Kim (C30293405) 05.20.2024 10:30:22 GMT Lisa Anderson (010234) Non-conforming Part Number = 778-223-445,,BEAM STRUCTURAL FWD. SUPPLIER MANUFACTURED TO ORIGINAL PO REV A BUT CUSTOMER HAD ISSUED REV B LAST MONTH. PURCHASING DEPARTMENT DID NOT SEND UPDATED PO TO SUPPLIER. SUPPLIER STATES THEY NEVER RECEIVED REV B. Part Sn(s):,,STR-8821, STR-8822 Eng. Drawing:,,778-223-445 Rev D NOTE: PARTS WERE MANUFACTURED PER REV A REQUIREMENTS. REV B ONLY CHANGED DELIVERY DATE AND PACKAGING INSTRUCTIONS. NO DESIGN CHANGES BETWEEN REVISIONS. 05/21/2024 11:20:15 GMT David Kim (C30293405) ENGINEERING CONFIRMED NO TECHNICAL CHANGES IN PO REV B. PARTS ACCEPTABLE FOR USE. PURCHASING WILL UPDATE INTERNAL PROCEDURES TO PREVENT SIMILAR ISSUES.</a:t>
                      </a:r>
                      <a:endParaRPr lang="en-US" sz="600" b="0" i="0" u="none" strike="noStrike" dirty="0">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3784045806"/>
                  </a:ext>
                </a:extLst>
              </a:tr>
              <a:tr h="625420">
                <a:tc>
                  <a:txBody>
                    <a:bodyPr/>
                    <a:lstStyle/>
                    <a:p>
                      <a:pPr algn="l" fontAlgn="b">
                        <a:buNone/>
                      </a:pPr>
                      <a:r>
                        <a:rPr lang="en-US" sz="600" b="0" i="0" u="none" strike="noStrike" dirty="0">
                          <a:solidFill>
                            <a:srgbClr val="000000"/>
                          </a:solidFill>
                          <a:effectLst/>
                          <a:latin typeface="Aptos Narrow" panose="020B0004020202020204" pitchFamily="34" charset="0"/>
                        </a:rPr>
                        <a:t>T</a:t>
                      </a:r>
                    </a:p>
                  </a:txBody>
                  <a:tcPr marL="3334" marR="3334" marT="3334" marB="0" anchor="b">
                    <a:solidFill>
                      <a:srgbClr val="FF0000"/>
                    </a:solidFill>
                  </a:tcPr>
                </a:tc>
                <a:tc>
                  <a:txBody>
                    <a:bodyPr/>
                    <a:lstStyle/>
                    <a:p>
                      <a:pPr algn="l" fontAlgn="b">
                        <a:buNone/>
                      </a:pPr>
                      <a:r>
                        <a:rPr lang="en-US" sz="600" u="none" strike="noStrike" dirty="0">
                          <a:effectLst/>
                        </a:rPr>
                        <a:t>Supplier Communication</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WRONG DELIVERY ADDRESS</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a:effectLst/>
                        </a:rPr>
                        <a:t>PIN-9944</a:t>
                      </a:r>
                      <a:endParaRPr lang="en-US" sz="600" b="0" i="0" u="none" strike="noStrike">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PIN ASSEMBLY</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06/08/2024 13:15:44 GMT Rachel Green (C31304506) 06.08.2024 13:00:33 GMT Tom Bradley (011345) Part Number(detail) = 223-556-889,,PIN ASSY CLEVIS TYPE. SUPPLIER SHIPPED PARTS TO OLD FACILITY ADDRESS INSTEAD OF NEW WAREHOUSE. SHIPPING LABEL SHOWS INCORRECT ADDRESS. CARRIER ATTEMPTED DELIVERY TO CLOSED FACILITY. Part Sn(s):,,MULTIPLE SERIALS IN SHIPMENT Eng. Drawing:,,223-556-889-002 ACTUAL: SHIPMENT SENT TO 1234 OLD STREET INSTEAD OF 5678 NEW AVENUE. NOTE: SUPPLIER USED OUTDATED ADDRESS FROM PREVIOUS PO. NEW ADDRESS WAS PROVIDED IN CURRENT PO HEADER. CARRIER REDIRECTED SHIPMENT AFTER CONTACTING US. REF: EXPECTED DELIVERY NOW DELAYED BY THREE BUSINESS DAYS. 06/11/2024 08:45:21 GMT Rachel Green (C31304506) PARTS RECEIVED AT CORRECT LOCATION. SUPPLIER HAS UPDATED THEIR RECORDS WITH NEW ADDRESS. QA CLEARED FOR RECEIPT PROCESSING.</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extLst>
                  <a:ext uri="{0D108BD9-81ED-4DB2-BD59-A6C34878D82A}">
                    <a16:rowId xmlns:a16="http://schemas.microsoft.com/office/drawing/2014/main" val="3482906130"/>
                  </a:ext>
                </a:extLst>
              </a:tr>
              <a:tr h="703243">
                <a:tc>
                  <a:txBody>
                    <a:bodyPr/>
                    <a:lstStyle/>
                    <a:p>
                      <a:pPr algn="l" fontAlgn="b">
                        <a:buNone/>
                      </a:pPr>
                      <a:r>
                        <a:rPr lang="en-US" sz="6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600" u="none" strike="noStrike">
                          <a:effectLst/>
                        </a:rPr>
                        <a:t>Training Issue</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OPERATOR CERT EXPIRED</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CBL-8877</a:t>
                      </a:r>
                      <a:endParaRPr lang="en-US" sz="6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dirty="0">
                          <a:effectLst/>
                        </a:rPr>
                        <a:t>CABLE HARNESS</a:t>
                      </a:r>
                      <a:endParaRPr lang="en-US" sz="6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600" u="none" strike="noStrike">
                          <a:effectLst/>
                        </a:rPr>
                        <a:t>07/14/2024 11:30:25 GMT Jessica Martinez (C32415607) 07.14.2024 11:15:14 GMT Carlos Ruiz (012456) Non-conforming Part Number = 889-445-223,,CABLE HARNESS 25 FT. QUALITY AUDIT DISCOVERED THAT OPERATOR WHO WORKED ON THIS ASSEMBLY HAD EXPIRED CERTIFICATION. OPERATOR BADGE 5521 CERTIFICATION EXPIRED ON 06/30/2024. PARTS WERE ASSEMBLED ON 07/10/2024. Part Sn(s):,,CH-7755, CH-7756, CH-7757, CH-7758 Eng. Drawing:,,889-445-223 NOTE: OPERATOR WAS SCHEDULED FOR RECERTIFICATION CLASS BUT CLASS WAS POSTPONED DUE TO TRAINER AVAILABILITY. OPERATOR CONTINUED WORKING ASSUMING EXTENSION WAS APPROVED BUT NO FORMAL EXTENSION WAS DOCUMENTED. REF: QUALITY MANUAL REQUIRES CURRENT CERTIFICATION FOR ALL ASSEMBLY OPERATIONS. 07/15/2024 14:20:18 GMT Jessica Martinez (C32415607) OPERATOR COMPLETED RECERTIFICATION YESTERDAY. ALL AFFECTED ASSEMBLIES PULLED FOR RE-INSPECTION PER PROCEDURE. MRB WILL REVIEW INSPECTION RESULTS.</a:t>
                      </a:r>
                      <a:endParaRPr lang="en-US" sz="600" b="0" i="0" u="none" strike="noStrike">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3410146247"/>
                  </a:ext>
                </a:extLst>
              </a:tr>
              <a:tr h="703243">
                <a:tc>
                  <a:txBody>
                    <a:bodyPr/>
                    <a:lstStyle/>
                    <a:p>
                      <a:pPr algn="l" fontAlgn="b">
                        <a:buNone/>
                      </a:pPr>
                      <a:r>
                        <a:rPr lang="en-US" sz="600" b="0" i="0" u="none" strike="noStrike" dirty="0">
                          <a:solidFill>
                            <a:srgbClr val="000000"/>
                          </a:solidFill>
                          <a:effectLst/>
                          <a:latin typeface="Aptos Narrow" panose="020B0004020202020204" pitchFamily="34" charset="0"/>
                        </a:rPr>
                        <a:t>T</a:t>
                      </a:r>
                    </a:p>
                  </a:txBody>
                  <a:tcPr marL="3334" marR="3334" marT="3334" marB="0" anchor="b">
                    <a:solidFill>
                      <a:srgbClr val="FF0000"/>
                    </a:solidFill>
                  </a:tcPr>
                </a:tc>
                <a:tc>
                  <a:txBody>
                    <a:bodyPr/>
                    <a:lstStyle/>
                    <a:p>
                      <a:pPr algn="l" fontAlgn="b">
                        <a:buNone/>
                      </a:pPr>
                      <a:r>
                        <a:rPr lang="en-US" sz="600" u="none" strike="noStrike" dirty="0">
                          <a:effectLst/>
                        </a:rPr>
                        <a:t>Scheduling Conflict</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PARTS ON HOLD FOR CUSTOMER REVIEW</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FRM-7722</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FRAME WELDMENT</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tc>
                  <a:txBody>
                    <a:bodyPr/>
                    <a:lstStyle/>
                    <a:p>
                      <a:pPr algn="l" fontAlgn="b">
                        <a:buNone/>
                      </a:pPr>
                      <a:r>
                        <a:rPr lang="en-US" sz="600" u="none" strike="noStrike" dirty="0">
                          <a:effectLst/>
                        </a:rPr>
                        <a:t>08/22/2024 09:55:37 GMT Robert Chen (C33526708) 08.22.2024 09:40:26 GMT Diana Lopez (013567) Part Number(detail) including configuration = 556-889-112,,FRAME WELD ASSY MAIN. CUSTOMER REQUESTED TO REVIEW PARTS BEFORE FINAL ACCEPTANCE DUE TO PREVIOUS ISSUES WITH DIFFERENT LOT. NO DEFECTS FOUND ON THESE PARTS BUT CUSTOMER WANTS TO INSPECT IN PERSON. Part Sn(s):,,FRM-5521 THROUGH FRM-5530 (10 PIECES) Eng. Drawing:,,556-889-112-003 Rev F ACTUAL: PARTS COMPLETED AND PASSED ALL INTERNAL INSPECTIONS ON 08/20/2024. NOTE: CUSTOMER VISIT SCHEDULED FOR 08/28/2024. PARTS STAGED IN INSPECTION AREA FOR CUSTOMER ACCESS. SHIPMENT ON HOLD PENDING CUSTOMER APPROVAL. REF: CUSTOMER PO DOES NOT REQUIRE SOURCE INSPECTION BUT THEY REQUESTED THIS AS COURTESY REVIEW. 08/29/2024 10:30:44 GMT Robert Chen (C33526708) CUSTOMER COMPLETED REVIEW YESTERDAY. CUSTOMER REPRESENTATIVE SIGNED OFF ON ACCEPTANCE FORM. APPROVED FOR SHIPMENT.</a:t>
                      </a:r>
                      <a:endParaRPr lang="en-US" sz="600" b="0" i="0" u="none" strike="noStrike" dirty="0">
                        <a:solidFill>
                          <a:srgbClr val="000000"/>
                        </a:solidFill>
                        <a:effectLst/>
                        <a:latin typeface="Aptos Narrow" panose="020B0004020202020204" pitchFamily="34" charset="0"/>
                      </a:endParaRPr>
                    </a:p>
                  </a:txBody>
                  <a:tcPr marL="3334" marR="3334" marT="3334" marB="0" anchor="b">
                    <a:solidFill>
                      <a:srgbClr val="FF0000"/>
                    </a:solidFill>
                  </a:tcPr>
                </a:tc>
                <a:extLst>
                  <a:ext uri="{0D108BD9-81ED-4DB2-BD59-A6C34878D82A}">
                    <a16:rowId xmlns:a16="http://schemas.microsoft.com/office/drawing/2014/main" val="881182721"/>
                  </a:ext>
                </a:extLst>
              </a:tr>
            </a:tbl>
          </a:graphicData>
        </a:graphic>
      </p:graphicFrame>
    </p:spTree>
    <p:extLst>
      <p:ext uri="{BB962C8B-B14F-4D97-AF65-F5344CB8AC3E}">
        <p14:creationId xmlns:p14="http://schemas.microsoft.com/office/powerpoint/2010/main" val="3101829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EEEF-D067-E8FE-1F3D-0CF595D867B9}"/>
              </a:ext>
            </a:extLst>
          </p:cNvPr>
          <p:cNvSpPr>
            <a:spLocks noGrp="1"/>
          </p:cNvSpPr>
          <p:nvPr>
            <p:ph type="title"/>
          </p:nvPr>
        </p:nvSpPr>
        <p:spPr/>
        <p:txBody>
          <a:bodyPr/>
          <a:lstStyle/>
          <a:p>
            <a:r>
              <a:rPr lang="en-US" dirty="0"/>
              <a:t>Whitebox Approach</a:t>
            </a:r>
          </a:p>
        </p:txBody>
      </p:sp>
      <p:graphicFrame>
        <p:nvGraphicFramePr>
          <p:cNvPr id="4" name="Content Placeholder 3">
            <a:extLst>
              <a:ext uri="{FF2B5EF4-FFF2-40B4-BE49-F238E27FC236}">
                <a16:creationId xmlns:a16="http://schemas.microsoft.com/office/drawing/2014/main" id="{8757E2D1-28B9-2C57-B8C7-01AE30384506}"/>
              </a:ext>
            </a:extLst>
          </p:cNvPr>
          <p:cNvGraphicFramePr>
            <a:graphicFrameLocks noGrp="1"/>
          </p:cNvGraphicFramePr>
          <p:nvPr>
            <p:ph idx="1"/>
            <p:extLst>
              <p:ext uri="{D42A27DB-BD31-4B8C-83A1-F6EECF244321}">
                <p14:modId xmlns:p14="http://schemas.microsoft.com/office/powerpoint/2010/main" val="3248667801"/>
              </p:ext>
            </p:extLst>
          </p:nvPr>
        </p:nvGraphicFramePr>
        <p:xfrm>
          <a:off x="695793" y="4811804"/>
          <a:ext cx="10515599" cy="1853714"/>
        </p:xfrm>
        <a:graphic>
          <a:graphicData uri="http://schemas.openxmlformats.org/drawingml/2006/table">
            <a:tbl>
              <a:tblPr>
                <a:tableStyleId>{5C22544A-7EE6-4342-B048-85BDC9FD1C3A}</a:tableStyleId>
              </a:tblPr>
              <a:tblGrid>
                <a:gridCol w="1044788">
                  <a:extLst>
                    <a:ext uri="{9D8B030D-6E8A-4147-A177-3AD203B41FA5}">
                      <a16:colId xmlns:a16="http://schemas.microsoft.com/office/drawing/2014/main" val="4129431275"/>
                    </a:ext>
                  </a:extLst>
                </a:gridCol>
                <a:gridCol w="1257615">
                  <a:extLst>
                    <a:ext uri="{9D8B030D-6E8A-4147-A177-3AD203B41FA5}">
                      <a16:colId xmlns:a16="http://schemas.microsoft.com/office/drawing/2014/main" val="1308613393"/>
                    </a:ext>
                  </a:extLst>
                </a:gridCol>
                <a:gridCol w="1025440">
                  <a:extLst>
                    <a:ext uri="{9D8B030D-6E8A-4147-A177-3AD203B41FA5}">
                      <a16:colId xmlns:a16="http://schemas.microsoft.com/office/drawing/2014/main" val="4080001654"/>
                    </a:ext>
                  </a:extLst>
                </a:gridCol>
                <a:gridCol w="986744">
                  <a:extLst>
                    <a:ext uri="{9D8B030D-6E8A-4147-A177-3AD203B41FA5}">
                      <a16:colId xmlns:a16="http://schemas.microsoft.com/office/drawing/2014/main" val="4206214124"/>
                    </a:ext>
                  </a:extLst>
                </a:gridCol>
                <a:gridCol w="6201012">
                  <a:extLst>
                    <a:ext uri="{9D8B030D-6E8A-4147-A177-3AD203B41FA5}">
                      <a16:colId xmlns:a16="http://schemas.microsoft.com/office/drawing/2014/main" val="2453665308"/>
                    </a:ext>
                  </a:extLst>
                </a:gridCol>
              </a:tblGrid>
              <a:tr h="280545">
                <a:tc>
                  <a:txBody>
                    <a:bodyPr/>
                    <a:lstStyle/>
                    <a:p>
                      <a:pPr algn="l" fontAlgn="b">
                        <a:buNone/>
                      </a:pPr>
                      <a:r>
                        <a:rPr lang="en-US" sz="1100" u="none" strike="noStrike" dirty="0">
                          <a:effectLst/>
                        </a:rPr>
                        <a:t>PROBLEM_CODE_TEXT</a:t>
                      </a:r>
                      <a:endParaRPr lang="en-US" sz="1100" b="0" i="0" u="none" strike="noStrike" dirty="0">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DESCRIPTION</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MATERIAL</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MATERIAL_DESCRIPTION</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LONG_TEXT</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2876864"/>
                  </a:ext>
                </a:extLst>
              </a:tr>
              <a:tr h="841635">
                <a:tc>
                  <a:txBody>
                    <a:bodyPr/>
                    <a:lstStyle/>
                    <a:p>
                      <a:pPr algn="l" fontAlgn="b">
                        <a:buNone/>
                      </a:pPr>
                      <a:r>
                        <a:rPr lang="en-US" sz="1100" u="none" strike="noStrike">
                          <a:effectLst/>
                        </a:rPr>
                        <a:t>Documentation/Paperwork</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dirty="0">
                          <a:effectLst/>
                        </a:rPr>
                        <a:t>MISSING CERT PACKAGE</a:t>
                      </a:r>
                      <a:endParaRPr lang="en-US" sz="1100" b="0" i="0" u="none" strike="noStrike" dirty="0">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WHL-8844</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WHEEL ASSEMBLY</a:t>
                      </a:r>
                      <a:endParaRPr lang="en-US" sz="1100" b="0" i="0" u="none" strike="noStrike">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dirty="0">
                          <a:effectLst/>
                        </a:rPr>
                        <a:t>03/09/2024 09:12:24 GMT Patrick Jackson (C28091905) 03.09.2024 09:01:10 GMT John Smith (008008) Non-conforming Part Number(detail) including configuration = 157-301-888,,WHEEL ASSEMBLY MAIN GEAR. SUPPLIER WAS SUPPOSED TO INCLUDE CERTIFICATION PACKAGE PER PO REQUIREMENTS. PACKAGE NOT FOUND IN SHIPMENT. CONTACTED SUPPLIER AND THEY CONFIRMED THEY WILL SEND VIA EMAIL BY END OF DAY. Part Sn(s):,,WH-5521, WH-5522, WH-5523 Eng. Drawing:,,334-PLT-001 Rev C NOTE: PARTS ARE IN RECEIVING HOLD AREA UNTIL PAPERWORK ARRIVES. INSPECTOR CONFIRMED QUANTITY AND PART NUMBERS MATCH PO. 03/10/2024 08:15:33 GMT Patrick Jackson (C28091905) RECEIVED EMAIL WITH CERTIFICATION PACKAGE. MRB/QA REVIEWED AND APPROVED FOR RELEASE TO STOCK.</a:t>
                      </a:r>
                      <a:endParaRPr lang="en-US" sz="1100" b="0" i="0" u="none" strike="noStrike" dirty="0">
                        <a:solidFill>
                          <a:srgbClr val="000000"/>
                        </a:solidFill>
                        <a:effectLst/>
                        <a:latin typeface="Aptos Narrow" panose="020B0004020202020204" pitchFamily="34" charset="0"/>
                      </a:endParaRPr>
                    </a:p>
                  </a:txBody>
                  <a:tcPr marL="4837" marR="4837" marT="483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281366"/>
                  </a:ext>
                </a:extLst>
              </a:tr>
            </a:tbl>
          </a:graphicData>
        </a:graphic>
      </p:graphicFrame>
      <p:cxnSp>
        <p:nvCxnSpPr>
          <p:cNvPr id="6" name="Straight Arrow Connector 5">
            <a:extLst>
              <a:ext uri="{FF2B5EF4-FFF2-40B4-BE49-F238E27FC236}">
                <a16:creationId xmlns:a16="http://schemas.microsoft.com/office/drawing/2014/main" id="{E67D66F1-C542-CC77-93A9-2095FB79D3AE}"/>
              </a:ext>
            </a:extLst>
          </p:cNvPr>
          <p:cNvCxnSpPr/>
          <p:nvPr/>
        </p:nvCxnSpPr>
        <p:spPr>
          <a:xfrm flipV="1">
            <a:off x="1206708" y="4212236"/>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4BCCFD20-FD19-2258-6D2C-D8BC9C1EDDEB}"/>
              </a:ext>
            </a:extLst>
          </p:cNvPr>
          <p:cNvCxnSpPr/>
          <p:nvPr/>
        </p:nvCxnSpPr>
        <p:spPr>
          <a:xfrm flipV="1">
            <a:off x="2339769" y="4212236"/>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7C2E19CC-87F0-184D-17A2-4FFE84B563B0}"/>
              </a:ext>
            </a:extLst>
          </p:cNvPr>
          <p:cNvCxnSpPr/>
          <p:nvPr/>
        </p:nvCxnSpPr>
        <p:spPr>
          <a:xfrm flipV="1">
            <a:off x="3472830" y="4224076"/>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79B2BED-DE6D-A513-393D-C9FC8D276B2F}"/>
              </a:ext>
            </a:extLst>
          </p:cNvPr>
          <p:cNvCxnSpPr/>
          <p:nvPr/>
        </p:nvCxnSpPr>
        <p:spPr>
          <a:xfrm flipV="1">
            <a:off x="4519697" y="4212236"/>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19B24B7-18FC-1FC8-B71F-A70BEA2A538D}"/>
              </a:ext>
            </a:extLst>
          </p:cNvPr>
          <p:cNvCxnSpPr/>
          <p:nvPr/>
        </p:nvCxnSpPr>
        <p:spPr>
          <a:xfrm flipV="1">
            <a:off x="7278123" y="4357226"/>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8320509-070A-E3CB-8C9A-AA7F9499F26F}"/>
              </a:ext>
            </a:extLst>
          </p:cNvPr>
          <p:cNvSpPr/>
          <p:nvPr/>
        </p:nvSpPr>
        <p:spPr>
          <a:xfrm>
            <a:off x="5467565" y="3852565"/>
            <a:ext cx="5307496" cy="410817"/>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12" name="Straight Arrow Connector 11">
            <a:extLst>
              <a:ext uri="{FF2B5EF4-FFF2-40B4-BE49-F238E27FC236}">
                <a16:creationId xmlns:a16="http://schemas.microsoft.com/office/drawing/2014/main" id="{EF7D35B4-B82A-2133-69F9-97FA590A9F2A}"/>
              </a:ext>
            </a:extLst>
          </p:cNvPr>
          <p:cNvCxnSpPr/>
          <p:nvPr/>
        </p:nvCxnSpPr>
        <p:spPr>
          <a:xfrm flipV="1">
            <a:off x="7571035" y="3356847"/>
            <a:ext cx="172387" cy="4047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20494D22-8762-3BFF-7080-EFC8E315929B}"/>
              </a:ext>
            </a:extLst>
          </p:cNvPr>
          <p:cNvSpPr/>
          <p:nvPr/>
        </p:nvSpPr>
        <p:spPr>
          <a:xfrm>
            <a:off x="1140501" y="3565592"/>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603A1D6-650E-5F65-7101-0AD408EB74E3}"/>
              </a:ext>
            </a:extLst>
          </p:cNvPr>
          <p:cNvSpPr/>
          <p:nvPr/>
        </p:nvSpPr>
        <p:spPr>
          <a:xfrm>
            <a:off x="1425558" y="3243820"/>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EE22F4F-99EB-3C76-1310-46C52F308303}"/>
              </a:ext>
            </a:extLst>
          </p:cNvPr>
          <p:cNvSpPr/>
          <p:nvPr/>
        </p:nvSpPr>
        <p:spPr>
          <a:xfrm>
            <a:off x="1558215" y="3703969"/>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AE0BBE86-7C7C-04C3-EF95-F714967BC745}"/>
              </a:ext>
            </a:extLst>
          </p:cNvPr>
          <p:cNvCxnSpPr>
            <a:stCxn id="13" idx="6"/>
            <a:endCxn id="15" idx="2"/>
          </p:cNvCxnSpPr>
          <p:nvPr/>
        </p:nvCxnSpPr>
        <p:spPr>
          <a:xfrm>
            <a:off x="1333700" y="3662192"/>
            <a:ext cx="224515" cy="138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9EC8696-AE1D-D579-441D-E07CFCA3AABA}"/>
              </a:ext>
            </a:extLst>
          </p:cNvPr>
          <p:cNvCxnSpPr>
            <a:stCxn id="15" idx="0"/>
            <a:endCxn id="14" idx="4"/>
          </p:cNvCxnSpPr>
          <p:nvPr/>
        </p:nvCxnSpPr>
        <p:spPr>
          <a:xfrm flipH="1" flipV="1">
            <a:off x="1522158" y="3437019"/>
            <a:ext cx="132657" cy="266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C497AE53-A7DF-A0E6-A0B9-1BCD18B50322}"/>
              </a:ext>
            </a:extLst>
          </p:cNvPr>
          <p:cNvSpPr/>
          <p:nvPr/>
        </p:nvSpPr>
        <p:spPr>
          <a:xfrm>
            <a:off x="2146317" y="3639392"/>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C6E9306-F299-A545-0CCE-14E220FE971B}"/>
              </a:ext>
            </a:extLst>
          </p:cNvPr>
          <p:cNvSpPr/>
          <p:nvPr/>
        </p:nvSpPr>
        <p:spPr>
          <a:xfrm>
            <a:off x="2431374" y="3317620"/>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074C40F-1FDB-D828-8300-CA846FD4DA4D}"/>
              </a:ext>
            </a:extLst>
          </p:cNvPr>
          <p:cNvSpPr/>
          <p:nvPr/>
        </p:nvSpPr>
        <p:spPr>
          <a:xfrm>
            <a:off x="2564031" y="3777769"/>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2973EF0-27F0-4D1E-8627-02DD5A007370}"/>
              </a:ext>
            </a:extLst>
          </p:cNvPr>
          <p:cNvCxnSpPr>
            <a:stCxn id="20" idx="6"/>
            <a:endCxn id="22" idx="2"/>
          </p:cNvCxnSpPr>
          <p:nvPr/>
        </p:nvCxnSpPr>
        <p:spPr>
          <a:xfrm>
            <a:off x="2339516" y="3735992"/>
            <a:ext cx="224515" cy="138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4176160-19B7-EC22-0F6F-4341A84F9194}"/>
              </a:ext>
            </a:extLst>
          </p:cNvPr>
          <p:cNvCxnSpPr>
            <a:stCxn id="22" idx="0"/>
            <a:endCxn id="21" idx="4"/>
          </p:cNvCxnSpPr>
          <p:nvPr/>
        </p:nvCxnSpPr>
        <p:spPr>
          <a:xfrm flipH="1" flipV="1">
            <a:off x="2527974" y="3510819"/>
            <a:ext cx="132657" cy="266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168F8E5-646D-9789-277E-C40A010E2C80}"/>
              </a:ext>
            </a:extLst>
          </p:cNvPr>
          <p:cNvSpPr/>
          <p:nvPr/>
        </p:nvSpPr>
        <p:spPr>
          <a:xfrm>
            <a:off x="3400054" y="3748097"/>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8F0FBD0-18C2-3DFA-82C1-D5BF7CE1EA1F}"/>
              </a:ext>
            </a:extLst>
          </p:cNvPr>
          <p:cNvSpPr/>
          <p:nvPr/>
        </p:nvSpPr>
        <p:spPr>
          <a:xfrm>
            <a:off x="3685111" y="3426325"/>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E0E297F-97EF-6F5A-1FC0-D622E36353A8}"/>
              </a:ext>
            </a:extLst>
          </p:cNvPr>
          <p:cNvSpPr/>
          <p:nvPr/>
        </p:nvSpPr>
        <p:spPr>
          <a:xfrm>
            <a:off x="3817768" y="3886474"/>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73376260-CF58-41ED-1D09-0D983205BB28}"/>
              </a:ext>
            </a:extLst>
          </p:cNvPr>
          <p:cNvCxnSpPr>
            <a:stCxn id="25" idx="6"/>
            <a:endCxn id="27" idx="2"/>
          </p:cNvCxnSpPr>
          <p:nvPr/>
        </p:nvCxnSpPr>
        <p:spPr>
          <a:xfrm>
            <a:off x="3593253" y="3844697"/>
            <a:ext cx="224515" cy="138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5F3C4A2-0A41-8450-C654-A6AF6621F272}"/>
              </a:ext>
            </a:extLst>
          </p:cNvPr>
          <p:cNvCxnSpPr>
            <a:stCxn id="27" idx="0"/>
            <a:endCxn id="26" idx="4"/>
          </p:cNvCxnSpPr>
          <p:nvPr/>
        </p:nvCxnSpPr>
        <p:spPr>
          <a:xfrm flipH="1" flipV="1">
            <a:off x="3781711" y="3619524"/>
            <a:ext cx="132657" cy="266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1BF79167-65F4-7ADA-7C4F-765BDFD3A3A8}"/>
              </a:ext>
            </a:extLst>
          </p:cNvPr>
          <p:cNvSpPr/>
          <p:nvPr/>
        </p:nvSpPr>
        <p:spPr>
          <a:xfrm>
            <a:off x="4368734" y="3828031"/>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7CFDAA3-BED7-D95D-6F95-5168D8FED97F}"/>
              </a:ext>
            </a:extLst>
          </p:cNvPr>
          <p:cNvSpPr/>
          <p:nvPr/>
        </p:nvSpPr>
        <p:spPr>
          <a:xfrm>
            <a:off x="4653791" y="3506259"/>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40E71AD-0D08-C44F-C083-E1FB4AC3C9B8}"/>
              </a:ext>
            </a:extLst>
          </p:cNvPr>
          <p:cNvSpPr/>
          <p:nvPr/>
        </p:nvSpPr>
        <p:spPr>
          <a:xfrm>
            <a:off x="4786448" y="3966408"/>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9B07A42D-5D0F-4F2F-0C16-B0DC0DE7A7F2}"/>
              </a:ext>
            </a:extLst>
          </p:cNvPr>
          <p:cNvCxnSpPr>
            <a:stCxn id="30" idx="6"/>
            <a:endCxn id="32" idx="2"/>
          </p:cNvCxnSpPr>
          <p:nvPr/>
        </p:nvCxnSpPr>
        <p:spPr>
          <a:xfrm>
            <a:off x="4561933" y="3924631"/>
            <a:ext cx="224515" cy="138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160705B6-4BBA-1AB8-9D6D-7E5785ABC9FB}"/>
              </a:ext>
            </a:extLst>
          </p:cNvPr>
          <p:cNvCxnSpPr>
            <a:stCxn id="32" idx="0"/>
            <a:endCxn id="31" idx="4"/>
          </p:cNvCxnSpPr>
          <p:nvPr/>
        </p:nvCxnSpPr>
        <p:spPr>
          <a:xfrm flipH="1" flipV="1">
            <a:off x="4750391" y="3699458"/>
            <a:ext cx="132657" cy="266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05779EBB-0A3A-C97C-B716-1E39DD844A5C}"/>
              </a:ext>
            </a:extLst>
          </p:cNvPr>
          <p:cNvSpPr/>
          <p:nvPr/>
        </p:nvSpPr>
        <p:spPr>
          <a:xfrm>
            <a:off x="7437966" y="2731373"/>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EBCEB02-DAAB-310E-E817-617658F31460}"/>
              </a:ext>
            </a:extLst>
          </p:cNvPr>
          <p:cNvSpPr/>
          <p:nvPr/>
        </p:nvSpPr>
        <p:spPr>
          <a:xfrm>
            <a:off x="7723023" y="2409601"/>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BD659C2-B86E-0D13-C34C-28BBD2917B08}"/>
              </a:ext>
            </a:extLst>
          </p:cNvPr>
          <p:cNvSpPr/>
          <p:nvPr/>
        </p:nvSpPr>
        <p:spPr>
          <a:xfrm>
            <a:off x="7855680" y="2869750"/>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4123F3D6-81E4-6B90-9B61-617F409AE900}"/>
              </a:ext>
            </a:extLst>
          </p:cNvPr>
          <p:cNvCxnSpPr>
            <a:stCxn id="35" idx="6"/>
            <a:endCxn id="37" idx="2"/>
          </p:cNvCxnSpPr>
          <p:nvPr/>
        </p:nvCxnSpPr>
        <p:spPr>
          <a:xfrm>
            <a:off x="7631165" y="2827973"/>
            <a:ext cx="224515" cy="138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9A8E0E01-3BFA-D3E9-C7AF-49986A0D7A64}"/>
              </a:ext>
            </a:extLst>
          </p:cNvPr>
          <p:cNvCxnSpPr>
            <a:stCxn id="37" idx="0"/>
            <a:endCxn id="36" idx="4"/>
          </p:cNvCxnSpPr>
          <p:nvPr/>
        </p:nvCxnSpPr>
        <p:spPr>
          <a:xfrm flipH="1" flipV="1">
            <a:off x="7819623" y="2602800"/>
            <a:ext cx="132657" cy="266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3B5556F9-05F0-49E5-4301-FCC5CD09CAA4}"/>
              </a:ext>
            </a:extLst>
          </p:cNvPr>
          <p:cNvSpPr/>
          <p:nvPr/>
        </p:nvSpPr>
        <p:spPr>
          <a:xfrm>
            <a:off x="7096040" y="2894013"/>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606F7DF-D653-A205-19D4-3A2A4CCFD5FB}"/>
              </a:ext>
            </a:extLst>
          </p:cNvPr>
          <p:cNvSpPr/>
          <p:nvPr/>
        </p:nvSpPr>
        <p:spPr>
          <a:xfrm>
            <a:off x="7313368" y="2344158"/>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264294B-301D-D5F2-47A1-074362413044}"/>
              </a:ext>
            </a:extLst>
          </p:cNvPr>
          <p:cNvSpPr/>
          <p:nvPr/>
        </p:nvSpPr>
        <p:spPr>
          <a:xfrm>
            <a:off x="8132678" y="2339024"/>
            <a:ext cx="193199" cy="1931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577663A-C617-D54E-B98D-85FFD4BE3B97}"/>
              </a:ext>
            </a:extLst>
          </p:cNvPr>
          <p:cNvCxnSpPr>
            <a:cxnSpLocks/>
            <a:stCxn id="35" idx="3"/>
            <a:endCxn id="40" idx="6"/>
          </p:cNvCxnSpPr>
          <p:nvPr/>
        </p:nvCxnSpPr>
        <p:spPr>
          <a:xfrm flipH="1">
            <a:off x="7289239" y="2896279"/>
            <a:ext cx="177020" cy="94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A4B1457A-0727-3AB9-3069-925992D14237}"/>
              </a:ext>
            </a:extLst>
          </p:cNvPr>
          <p:cNvCxnSpPr>
            <a:cxnSpLocks/>
            <a:stCxn id="36" idx="2"/>
            <a:endCxn id="41" idx="6"/>
          </p:cNvCxnSpPr>
          <p:nvPr/>
        </p:nvCxnSpPr>
        <p:spPr>
          <a:xfrm flipH="1" flipV="1">
            <a:off x="7506567" y="2440758"/>
            <a:ext cx="216456" cy="65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3ADAF1E2-7E23-704F-8BF0-66E4F02D2B90}"/>
              </a:ext>
            </a:extLst>
          </p:cNvPr>
          <p:cNvCxnSpPr>
            <a:cxnSpLocks/>
            <a:stCxn id="36" idx="6"/>
            <a:endCxn id="42" idx="2"/>
          </p:cNvCxnSpPr>
          <p:nvPr/>
        </p:nvCxnSpPr>
        <p:spPr>
          <a:xfrm flipV="1">
            <a:off x="7916222" y="2435624"/>
            <a:ext cx="216456" cy="7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E1EAC77D-24BB-0965-CD9E-D1E541159229}"/>
              </a:ext>
            </a:extLst>
          </p:cNvPr>
          <p:cNvCxnSpPr>
            <a:cxnSpLocks/>
            <a:stCxn id="35" idx="1"/>
            <a:endCxn id="41" idx="4"/>
          </p:cNvCxnSpPr>
          <p:nvPr/>
        </p:nvCxnSpPr>
        <p:spPr>
          <a:xfrm flipH="1" flipV="1">
            <a:off x="7409968" y="2537357"/>
            <a:ext cx="56291" cy="222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66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B3C3-9B77-6EEB-3B0D-F8118E9EE2E0}"/>
              </a:ext>
            </a:extLst>
          </p:cNvPr>
          <p:cNvSpPr>
            <a:spLocks noGrp="1"/>
          </p:cNvSpPr>
          <p:nvPr>
            <p:ph type="title"/>
          </p:nvPr>
        </p:nvSpPr>
        <p:spPr/>
        <p:txBody>
          <a:bodyPr>
            <a:normAutofit/>
          </a:bodyPr>
          <a:lstStyle/>
          <a:p>
            <a:r>
              <a:rPr lang="en-US" b="1" dirty="0"/>
              <a:t>Algorithm Description: Multi-Dimensional Semantic Analysis</a:t>
            </a:r>
            <a:endParaRPr lang="en-US" dirty="0"/>
          </a:p>
        </p:txBody>
      </p:sp>
      <p:sp>
        <p:nvSpPr>
          <p:cNvPr id="3" name="Content Placeholder 2">
            <a:extLst>
              <a:ext uri="{FF2B5EF4-FFF2-40B4-BE49-F238E27FC236}">
                <a16:creationId xmlns:a16="http://schemas.microsoft.com/office/drawing/2014/main" id="{19600676-802B-088A-53C1-51BA2597C0F3}"/>
              </a:ext>
            </a:extLst>
          </p:cNvPr>
          <p:cNvSpPr>
            <a:spLocks noGrp="1"/>
          </p:cNvSpPr>
          <p:nvPr>
            <p:ph idx="1"/>
          </p:nvPr>
        </p:nvSpPr>
        <p:spPr/>
        <p:txBody>
          <a:bodyPr>
            <a:normAutofit fontScale="77500" lnSpcReduction="20000"/>
          </a:bodyPr>
          <a:lstStyle/>
          <a:p>
            <a:r>
              <a:rPr lang="en-US" b="1" dirty="0"/>
              <a:t>Core Logic: Parallel Independent Evaluation. </a:t>
            </a:r>
            <a:r>
              <a:rPr lang="en-US" dirty="0"/>
              <a:t>The algorithm utilizes a </a:t>
            </a:r>
            <a:r>
              <a:rPr lang="en-US" b="1" dirty="0"/>
              <a:t>Parallel Inference Model</a:t>
            </a:r>
            <a:r>
              <a:rPr lang="en-US" dirty="0"/>
              <a:t>. </a:t>
            </a:r>
          </a:p>
          <a:p>
            <a:r>
              <a:rPr lang="en-US" dirty="0"/>
              <a:t>For every input text, the system independently evaluates 17 distinct ‘Information Dimensions.’ </a:t>
            </a:r>
          </a:p>
          <a:p>
            <a:r>
              <a:rPr lang="en-US" dirty="0"/>
              <a:t>These dimensions are divided into </a:t>
            </a:r>
          </a:p>
          <a:p>
            <a:pPr lvl="1"/>
            <a:r>
              <a:rPr lang="en-US" dirty="0"/>
              <a:t>Contextual Scopes (Administrative/Business nature) and </a:t>
            </a:r>
          </a:p>
          <a:p>
            <a:pPr lvl="1"/>
            <a:r>
              <a:rPr lang="en-US" dirty="0"/>
              <a:t>Engineering specifics Parameters.</a:t>
            </a:r>
          </a:p>
          <a:p>
            <a:r>
              <a:rPr lang="en-US" dirty="0"/>
              <a:t>In this model, there is no filtering or gatekeeping. Instead, the algorithm treats the text as a dataset that must be evaluated against </a:t>
            </a:r>
            <a:r>
              <a:rPr lang="en-US" b="1" dirty="0"/>
              <a:t>17 independent dimensions</a:t>
            </a:r>
            <a:r>
              <a:rPr lang="en-US" dirty="0"/>
              <a:t> simultaneously. </a:t>
            </a:r>
          </a:p>
          <a:p>
            <a:r>
              <a:rPr lang="en-US" dirty="0"/>
              <a:t>Each dimension extracts specific signals based on unique semantic triggers.</a:t>
            </a:r>
          </a:p>
          <a:p>
            <a:r>
              <a:rPr lang="en-US" dirty="0"/>
              <a:t>Each dimension functions as an independent logical module that returns:</a:t>
            </a:r>
          </a:p>
          <a:p>
            <a:pPr lvl="1"/>
            <a:r>
              <a:rPr lang="en-US" b="1" dirty="0"/>
              <a:t>Boolean Flag (True/False):</a:t>
            </a:r>
            <a:r>
              <a:rPr lang="en-US" dirty="0"/>
              <a:t> Does this specific type of information exist?</a:t>
            </a:r>
          </a:p>
          <a:p>
            <a:pPr lvl="1"/>
            <a:r>
              <a:rPr lang="en-US" b="1" dirty="0"/>
              <a:t>Evidence Vector:</a:t>
            </a:r>
            <a:r>
              <a:rPr lang="en-US" dirty="0"/>
              <a:t> The exact text snippet justifying the flag (required for verification).</a:t>
            </a:r>
          </a:p>
          <a:p>
            <a:endParaRPr lang="en-US" dirty="0"/>
          </a:p>
        </p:txBody>
      </p:sp>
    </p:spTree>
    <p:extLst>
      <p:ext uri="{BB962C8B-B14F-4D97-AF65-F5344CB8AC3E}">
        <p14:creationId xmlns:p14="http://schemas.microsoft.com/office/powerpoint/2010/main" val="428645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5EBC-DA33-26DD-CBF6-7EE80EB7C7DC}"/>
              </a:ext>
            </a:extLst>
          </p:cNvPr>
          <p:cNvSpPr>
            <a:spLocks noGrp="1"/>
          </p:cNvSpPr>
          <p:nvPr>
            <p:ph type="title"/>
          </p:nvPr>
        </p:nvSpPr>
        <p:spPr>
          <a:xfrm>
            <a:off x="838200" y="57151"/>
            <a:ext cx="10515600" cy="723899"/>
          </a:xfrm>
        </p:spPr>
        <p:txBody>
          <a:bodyPr>
            <a:normAutofit/>
          </a:bodyPr>
          <a:lstStyle/>
          <a:p>
            <a:r>
              <a:rPr lang="en-US" sz="4000" b="1" dirty="0"/>
              <a:t>Dimension Set A: Contextual Scope Classifiers</a:t>
            </a:r>
          </a:p>
        </p:txBody>
      </p:sp>
      <p:sp>
        <p:nvSpPr>
          <p:cNvPr id="3" name="Content Placeholder 2">
            <a:extLst>
              <a:ext uri="{FF2B5EF4-FFF2-40B4-BE49-F238E27FC236}">
                <a16:creationId xmlns:a16="http://schemas.microsoft.com/office/drawing/2014/main" id="{F1E76872-90C4-A99F-98FC-3463644ADBB5}"/>
              </a:ext>
            </a:extLst>
          </p:cNvPr>
          <p:cNvSpPr>
            <a:spLocks noGrp="1"/>
          </p:cNvSpPr>
          <p:nvPr>
            <p:ph idx="1"/>
          </p:nvPr>
        </p:nvSpPr>
        <p:spPr>
          <a:xfrm>
            <a:off x="838200" y="1323201"/>
            <a:ext cx="5111750" cy="4868049"/>
          </a:xfrm>
        </p:spPr>
        <p:txBody>
          <a:bodyPr>
            <a:normAutofit/>
          </a:bodyPr>
          <a:lstStyle/>
          <a:p>
            <a:r>
              <a:rPr lang="en-US" sz="1200" b="1" dirty="0"/>
              <a:t>Financial Logic:</a:t>
            </a:r>
            <a:r>
              <a:rPr lang="en-US" sz="1200" dirty="0"/>
              <a:t> Scans for monetary values, pricing terms, invoices, profit/loss statements, or cost codes.</a:t>
            </a:r>
          </a:p>
          <a:p>
            <a:r>
              <a:rPr lang="en-US" sz="1200" b="1" dirty="0"/>
              <a:t>Schedule &amp; Management Logic:</a:t>
            </a:r>
            <a:r>
              <a:rPr lang="en-US" sz="1200" dirty="0"/>
              <a:t> Scans for dates linked to planning, organizational hierarchies, approval workflows (signatures), or configuration management steps.</a:t>
            </a:r>
          </a:p>
          <a:p>
            <a:r>
              <a:rPr lang="en-US" sz="1200" b="1" dirty="0"/>
              <a:t>Nomenclature Logic:</a:t>
            </a:r>
            <a:r>
              <a:rPr lang="en-US" sz="1200" dirty="0"/>
              <a:t> Scans for part numbers, serial numbers, or generic names (ex. Bracket) </a:t>
            </a:r>
            <a:r>
              <a:rPr lang="en-US" sz="1200" dirty="0">
                <a:effectLst/>
              </a:rPr>
              <a:t>in isolation</a:t>
            </a:r>
            <a:r>
              <a:rPr lang="en-US" sz="1200" dirty="0"/>
              <a:t> without accompanying technical specifications.</a:t>
            </a:r>
          </a:p>
          <a:p>
            <a:r>
              <a:rPr lang="en-US" sz="1200" b="1" dirty="0"/>
              <a:t>General Description Logic:</a:t>
            </a:r>
            <a:r>
              <a:rPr lang="en-US" sz="1200" dirty="0"/>
              <a:t> Scans for high-level summaries of hardware/software that lack measurable parameters or technical depth.</a:t>
            </a:r>
          </a:p>
          <a:p>
            <a:r>
              <a:rPr lang="en-US" sz="1200" b="1" dirty="0"/>
              <a:t>Marketing Logic:</a:t>
            </a:r>
            <a:r>
              <a:rPr lang="en-US" sz="1200" dirty="0"/>
              <a:t> Scans for sales-oriented language, value propositions, or high-level functional descriptions intended for promotion.</a:t>
            </a:r>
          </a:p>
          <a:p>
            <a:r>
              <a:rPr lang="en-US" sz="1200" b="1" dirty="0"/>
              <a:t>Public Domain Logic:</a:t>
            </a:r>
            <a:r>
              <a:rPr lang="en-US" sz="1200" dirty="0"/>
              <a:t> Scans for references to publicly available information, such as unrestricted conference papers, patents, or open standards.</a:t>
            </a:r>
          </a:p>
          <a:p>
            <a:r>
              <a:rPr lang="en-US" sz="1200" b="1" dirty="0"/>
              <a:t>Applicability Logic:</a:t>
            </a:r>
            <a:r>
              <a:rPr lang="en-US" sz="1200" dirty="0"/>
              <a:t> Scans for data necessary for "design, development, production, or operation," serving as a general flag for utility.</a:t>
            </a:r>
          </a:p>
        </p:txBody>
      </p:sp>
      <p:sp>
        <p:nvSpPr>
          <p:cNvPr id="5" name="TextBox 4">
            <a:extLst>
              <a:ext uri="{FF2B5EF4-FFF2-40B4-BE49-F238E27FC236}">
                <a16:creationId xmlns:a16="http://schemas.microsoft.com/office/drawing/2014/main" id="{B374F81E-0920-CD44-DDA1-09C53B309B02}"/>
              </a:ext>
            </a:extLst>
          </p:cNvPr>
          <p:cNvSpPr txBox="1"/>
          <p:nvPr/>
        </p:nvSpPr>
        <p:spPr>
          <a:xfrm>
            <a:off x="838200" y="781050"/>
            <a:ext cx="10680700" cy="276999"/>
          </a:xfrm>
          <a:prstGeom prst="rect">
            <a:avLst/>
          </a:prstGeom>
          <a:noFill/>
        </p:spPr>
        <p:txBody>
          <a:bodyPr wrap="square">
            <a:spAutoFit/>
          </a:bodyPr>
          <a:lstStyle/>
          <a:p>
            <a:r>
              <a:rPr lang="en-US" sz="1200" dirty="0">
                <a:effectLst/>
              </a:rPr>
              <a:t>These logic modules detect the business/administrative context of the data. They check if the information is restricted to specific non-technical domains.</a:t>
            </a:r>
            <a:endParaRPr lang="en-US" sz="1200" dirty="0"/>
          </a:p>
        </p:txBody>
      </p:sp>
    </p:spTree>
    <p:extLst>
      <p:ext uri="{BB962C8B-B14F-4D97-AF65-F5344CB8AC3E}">
        <p14:creationId xmlns:p14="http://schemas.microsoft.com/office/powerpoint/2010/main" val="1536386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BB594-DF07-D5A2-0FA3-37731F65FFC9}"/>
              </a:ext>
            </a:extLst>
          </p:cNvPr>
          <p:cNvSpPr>
            <a:spLocks noGrp="1"/>
          </p:cNvSpPr>
          <p:nvPr>
            <p:ph type="title"/>
          </p:nvPr>
        </p:nvSpPr>
        <p:spPr>
          <a:xfrm>
            <a:off x="838200" y="1"/>
            <a:ext cx="10515600" cy="669380"/>
          </a:xfrm>
        </p:spPr>
        <p:txBody>
          <a:bodyPr>
            <a:normAutofit fontScale="90000"/>
          </a:bodyPr>
          <a:lstStyle/>
          <a:p>
            <a:r>
              <a:rPr lang="en-US" b="1" dirty="0"/>
              <a:t>Dimension Set B: Parameter Extraction</a:t>
            </a:r>
            <a:endParaRPr lang="en-US" dirty="0"/>
          </a:p>
        </p:txBody>
      </p:sp>
      <p:sp>
        <p:nvSpPr>
          <p:cNvPr id="3" name="Content Placeholder 2">
            <a:extLst>
              <a:ext uri="{FF2B5EF4-FFF2-40B4-BE49-F238E27FC236}">
                <a16:creationId xmlns:a16="http://schemas.microsoft.com/office/drawing/2014/main" id="{0B06359E-800A-0E88-F7B3-6D755B8DFF33}"/>
              </a:ext>
            </a:extLst>
          </p:cNvPr>
          <p:cNvSpPr>
            <a:spLocks noGrp="1"/>
          </p:cNvSpPr>
          <p:nvPr>
            <p:ph idx="1"/>
          </p:nvPr>
        </p:nvSpPr>
        <p:spPr>
          <a:xfrm>
            <a:off x="961130" y="952498"/>
            <a:ext cx="5134869" cy="5096419"/>
          </a:xfrm>
        </p:spPr>
        <p:txBody>
          <a:bodyPr>
            <a:noAutofit/>
          </a:bodyPr>
          <a:lstStyle/>
          <a:p>
            <a:pPr marL="0" indent="0">
              <a:buNone/>
            </a:pPr>
            <a:r>
              <a:rPr lang="en-US" sz="1000" b="1" dirty="0"/>
              <a:t>Group 1: The Material &amp; Process Modules</a:t>
            </a:r>
          </a:p>
          <a:p>
            <a:r>
              <a:rPr lang="en-US" sz="1000" b="1" dirty="0"/>
              <a:t>Material Specifications:</a:t>
            </a:r>
            <a:endParaRPr lang="en-US" sz="1000" dirty="0"/>
          </a:p>
          <a:p>
            <a:pPr lvl="1"/>
            <a:r>
              <a:rPr lang="en-US" sz="1000" dirty="0">
                <a:effectLst/>
              </a:rPr>
              <a:t>Logic:</a:t>
            </a:r>
            <a:r>
              <a:rPr lang="en-US" sz="1000" dirty="0"/>
              <a:t> Detects </a:t>
            </a:r>
            <a:r>
              <a:rPr lang="en-US" sz="1000" b="1" dirty="0"/>
              <a:t>Intrinsic Properties</a:t>
            </a:r>
            <a:r>
              <a:rPr lang="en-US" sz="1000" dirty="0"/>
              <a:t> of the matter itself.</a:t>
            </a:r>
          </a:p>
          <a:p>
            <a:pPr lvl="1"/>
            <a:r>
              <a:rPr lang="en-US" sz="1000" dirty="0">
                <a:effectLst/>
              </a:rPr>
              <a:t>Triggers:</a:t>
            </a:r>
            <a:r>
              <a:rPr lang="en-US" sz="1000" dirty="0"/>
              <a:t> Hardness (HRC/HB), Yield/Tensile Strength (</a:t>
            </a:r>
            <a:r>
              <a:rPr lang="en-US" sz="1000" dirty="0" err="1"/>
              <a:t>ksi</a:t>
            </a:r>
            <a:r>
              <a:rPr lang="en-US" sz="1000" dirty="0"/>
              <a:t>/MPa), Chemical Composition (%), Material Grade with properties.</a:t>
            </a:r>
          </a:p>
          <a:p>
            <a:pPr lvl="1"/>
            <a:r>
              <a:rPr lang="en-US" sz="1000" dirty="0">
                <a:effectLst/>
              </a:rPr>
              <a:t>Exclusion:</a:t>
            </a:r>
            <a:r>
              <a:rPr lang="en-US" sz="1000" dirty="0"/>
              <a:t> Does not capture how the material was processed.</a:t>
            </a:r>
          </a:p>
          <a:p>
            <a:r>
              <a:rPr lang="en-US" sz="1000" b="1" dirty="0"/>
              <a:t>Manufacturing Parameters:</a:t>
            </a:r>
            <a:endParaRPr lang="en-US" sz="1000" dirty="0"/>
          </a:p>
          <a:p>
            <a:pPr lvl="1"/>
            <a:r>
              <a:rPr lang="en-US" sz="1000" dirty="0">
                <a:effectLst/>
              </a:rPr>
              <a:t>Logic:</a:t>
            </a:r>
            <a:r>
              <a:rPr lang="en-US" sz="1000" dirty="0"/>
              <a:t> Detects </a:t>
            </a:r>
            <a:r>
              <a:rPr lang="en-US" sz="1000" b="1" dirty="0"/>
              <a:t>Process Inputs</a:t>
            </a:r>
            <a:r>
              <a:rPr lang="en-US" sz="1000" dirty="0"/>
              <a:t> and machine settings.</a:t>
            </a:r>
          </a:p>
          <a:p>
            <a:pPr lvl="1"/>
            <a:r>
              <a:rPr lang="en-US" sz="1000" dirty="0">
                <a:effectLst/>
              </a:rPr>
              <a:t>Triggers:</a:t>
            </a:r>
            <a:r>
              <a:rPr lang="en-US" sz="1000" dirty="0"/>
              <a:t> Temperatures (Oven/Bath), Time durations (Soak/Bake), Voltage/Current, Feed Rates, Plating Thickness.</a:t>
            </a:r>
          </a:p>
          <a:p>
            <a:pPr lvl="1"/>
            <a:r>
              <a:rPr lang="en-US" sz="1000" dirty="0">
                <a:effectLst/>
              </a:rPr>
              <a:t>Exclusion:</a:t>
            </a:r>
            <a:r>
              <a:rPr lang="en-US" sz="1000" dirty="0"/>
              <a:t> Does not capture the resulting material properties</a:t>
            </a:r>
          </a:p>
          <a:p>
            <a:pPr lvl="1"/>
            <a:endParaRPr lang="en-US" sz="1050" dirty="0"/>
          </a:p>
          <a:p>
            <a:pPr marL="0" indent="0">
              <a:buNone/>
            </a:pPr>
            <a:r>
              <a:rPr lang="en-US" sz="1000" b="1" dirty="0"/>
              <a:t>Group 2: The Geometry &amp; Design Modules</a:t>
            </a:r>
          </a:p>
          <a:p>
            <a:r>
              <a:rPr lang="en-US" sz="1000" b="1" dirty="0"/>
              <a:t>Dimensional Specifications:</a:t>
            </a:r>
            <a:endParaRPr lang="en-US" sz="1000" dirty="0"/>
          </a:p>
          <a:p>
            <a:pPr lvl="1"/>
            <a:r>
              <a:rPr lang="en-US" sz="1000" dirty="0">
                <a:effectLst/>
              </a:rPr>
              <a:t>Logic:</a:t>
            </a:r>
            <a:r>
              <a:rPr lang="en-US" sz="1000" dirty="0"/>
              <a:t> Detects </a:t>
            </a:r>
            <a:r>
              <a:rPr lang="en-US" sz="1000" b="1" dirty="0"/>
              <a:t>Physical Geometry</a:t>
            </a:r>
            <a:r>
              <a:rPr lang="en-US" sz="1000" dirty="0"/>
              <a:t> and shape.</a:t>
            </a:r>
          </a:p>
          <a:p>
            <a:pPr lvl="1"/>
            <a:r>
              <a:rPr lang="en-US" sz="1000" dirty="0">
                <a:effectLst/>
              </a:rPr>
              <a:t>Triggers:</a:t>
            </a:r>
            <a:r>
              <a:rPr lang="en-US" sz="1000" dirty="0"/>
              <a:t> Linear dimensions, Tolerances (±), GD&amp;T callouts (Concentricity, Flatness), Clearances, Fit Classes.</a:t>
            </a:r>
          </a:p>
          <a:p>
            <a:pPr lvl="1"/>
            <a:r>
              <a:rPr lang="en-US" sz="1000" dirty="0">
                <a:effectLst/>
              </a:rPr>
              <a:t>Exclusion:</a:t>
            </a:r>
            <a:r>
              <a:rPr lang="en-US" sz="1000" dirty="0"/>
              <a:t> Does not capture electrical or software interfaces.</a:t>
            </a:r>
          </a:p>
          <a:p>
            <a:r>
              <a:rPr lang="en-US" sz="1000" b="1" dirty="0"/>
              <a:t>Detailed Design Specifications:</a:t>
            </a:r>
            <a:endParaRPr lang="en-US" sz="1000" dirty="0"/>
          </a:p>
          <a:p>
            <a:pPr lvl="1"/>
            <a:r>
              <a:rPr lang="en-US" sz="1000" dirty="0">
                <a:effectLst/>
              </a:rPr>
              <a:t>Logic:</a:t>
            </a:r>
            <a:r>
              <a:rPr lang="en-US" sz="1000" dirty="0"/>
              <a:t> Detects </a:t>
            </a:r>
            <a:r>
              <a:rPr lang="en-US" sz="1000" b="1" dirty="0"/>
              <a:t>System Interfaces</a:t>
            </a:r>
            <a:r>
              <a:rPr lang="en-US" sz="1000" dirty="0"/>
              <a:t> and non-geometric requirements.</a:t>
            </a:r>
          </a:p>
          <a:p>
            <a:pPr lvl="1"/>
            <a:r>
              <a:rPr lang="en-US" sz="1000" dirty="0">
                <a:effectLst/>
              </a:rPr>
              <a:t>Triggers:</a:t>
            </a:r>
            <a:r>
              <a:rPr lang="en-US" sz="1000" dirty="0"/>
              <a:t> Electrical ratings (V/A), Pinouts, Software versions/checksums, Interface Control limits.</a:t>
            </a:r>
          </a:p>
          <a:p>
            <a:pPr marL="457200" lvl="1" indent="0">
              <a:buNone/>
            </a:pPr>
            <a:endParaRPr lang="en-US" sz="900" b="1" dirty="0"/>
          </a:p>
          <a:p>
            <a:pPr marL="0" indent="0">
              <a:buNone/>
            </a:pPr>
            <a:r>
              <a:rPr lang="en-US" sz="1000" b="1" dirty="0"/>
              <a:t>Group 5: Resolution</a:t>
            </a:r>
          </a:p>
          <a:p>
            <a:pPr marL="171450" indent="-171450"/>
            <a:r>
              <a:rPr lang="en-US" sz="1000" b="1" dirty="0"/>
              <a:t>Corrective Actions:</a:t>
            </a:r>
            <a:endParaRPr lang="en-US" sz="1000" dirty="0"/>
          </a:p>
          <a:p>
            <a:pPr marL="628650" lvl="1" indent="-171450"/>
            <a:r>
              <a:rPr lang="en-US" sz="1000" dirty="0">
                <a:effectLst/>
              </a:rPr>
              <a:t>Logic:</a:t>
            </a:r>
            <a:r>
              <a:rPr lang="en-US" sz="1000" dirty="0"/>
              <a:t> Detects </a:t>
            </a:r>
            <a:r>
              <a:rPr lang="en-US" sz="1000" b="1" dirty="0"/>
              <a:t>Technical Remediation</a:t>
            </a:r>
            <a:r>
              <a:rPr lang="en-US" sz="1000" dirty="0"/>
              <a:t>.</a:t>
            </a:r>
          </a:p>
          <a:p>
            <a:pPr marL="628650" lvl="1" indent="-171450"/>
            <a:r>
              <a:rPr lang="en-US" sz="1000" dirty="0">
                <a:effectLst/>
              </a:rPr>
              <a:t>Triggers:</a:t>
            </a:r>
            <a:r>
              <a:rPr lang="en-US" sz="1000" dirty="0"/>
              <a:t> Rework instructions with parameters, repair schemes, engineering deviations with technical justification.</a:t>
            </a:r>
          </a:p>
          <a:p>
            <a:pPr lvl="1"/>
            <a:endParaRPr lang="en-US" sz="1000" dirty="0"/>
          </a:p>
        </p:txBody>
      </p:sp>
      <p:sp>
        <p:nvSpPr>
          <p:cNvPr id="7" name="TextBox 6">
            <a:extLst>
              <a:ext uri="{FF2B5EF4-FFF2-40B4-BE49-F238E27FC236}">
                <a16:creationId xmlns:a16="http://schemas.microsoft.com/office/drawing/2014/main" id="{577FA36A-7CDF-36BF-556E-EF6F2851A853}"/>
              </a:ext>
            </a:extLst>
          </p:cNvPr>
          <p:cNvSpPr txBox="1"/>
          <p:nvPr/>
        </p:nvSpPr>
        <p:spPr>
          <a:xfrm>
            <a:off x="838200" y="555005"/>
            <a:ext cx="10883900" cy="276999"/>
          </a:xfrm>
          <a:prstGeom prst="rect">
            <a:avLst/>
          </a:prstGeom>
          <a:noFill/>
        </p:spPr>
        <p:txBody>
          <a:bodyPr wrap="square">
            <a:spAutoFit/>
          </a:bodyPr>
          <a:lstStyle/>
          <a:p>
            <a:r>
              <a:rPr lang="en-US" sz="1200" dirty="0">
                <a:effectLst/>
              </a:rPr>
              <a:t>These logic modules extract specific engineering data. To ensure accuracy and prevent overlapping detections, the algorithm applies Strict Semantic Boundaries.</a:t>
            </a:r>
            <a:endParaRPr lang="en-US" sz="1200" dirty="0"/>
          </a:p>
        </p:txBody>
      </p:sp>
      <p:sp>
        <p:nvSpPr>
          <p:cNvPr id="8" name="Content Placeholder 2">
            <a:extLst>
              <a:ext uri="{FF2B5EF4-FFF2-40B4-BE49-F238E27FC236}">
                <a16:creationId xmlns:a16="http://schemas.microsoft.com/office/drawing/2014/main" id="{804E5AAA-BEDA-A780-CE5D-6CB614532E4F}"/>
              </a:ext>
            </a:extLst>
          </p:cNvPr>
          <p:cNvSpPr txBox="1">
            <a:spLocks/>
          </p:cNvSpPr>
          <p:nvPr/>
        </p:nvSpPr>
        <p:spPr>
          <a:xfrm>
            <a:off x="6095999" y="952499"/>
            <a:ext cx="5930901" cy="50964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1" dirty="0"/>
              <a:t>Group 3: The Physics &amp; Performance Modules</a:t>
            </a:r>
          </a:p>
          <a:p>
            <a:pPr marL="171450" indent="-171450"/>
            <a:r>
              <a:rPr lang="en-US" sz="1000" b="1" dirty="0"/>
              <a:t>Performance Parameters:</a:t>
            </a:r>
            <a:endParaRPr lang="en-US" sz="1000" dirty="0"/>
          </a:p>
          <a:p>
            <a:pPr marL="628650" lvl="1" indent="-171450"/>
            <a:r>
              <a:rPr lang="en-US" sz="1000" dirty="0">
                <a:effectLst/>
              </a:rPr>
              <a:t>Logic:</a:t>
            </a:r>
            <a:r>
              <a:rPr lang="en-US" sz="1000" dirty="0"/>
              <a:t> Detects </a:t>
            </a:r>
            <a:r>
              <a:rPr lang="en-US" sz="1000" b="1" dirty="0"/>
              <a:t>Active System Output</a:t>
            </a:r>
            <a:r>
              <a:rPr lang="en-US" sz="1000" dirty="0"/>
              <a:t> (The Goal).</a:t>
            </a:r>
          </a:p>
          <a:p>
            <a:pPr marL="628650" lvl="1" indent="-171450"/>
            <a:r>
              <a:rPr lang="en-US" sz="1000" dirty="0">
                <a:effectLst/>
              </a:rPr>
              <a:t>Triggers:</a:t>
            </a:r>
            <a:r>
              <a:rPr lang="en-US" sz="1000" dirty="0"/>
              <a:t> Flow rates, RPM, Thrust, Lift, Cooling capacity, Operational envelopes (Max Altitude/Speed).</a:t>
            </a:r>
          </a:p>
          <a:p>
            <a:pPr marL="628650" lvl="1" indent="-171450"/>
            <a:r>
              <a:rPr lang="en-US" sz="1000" dirty="0">
                <a:effectLst/>
              </a:rPr>
              <a:t>Differentiation:</a:t>
            </a:r>
            <a:r>
              <a:rPr lang="en-US" sz="1000" dirty="0"/>
              <a:t> Describes what the system </a:t>
            </a:r>
            <a:r>
              <a:rPr lang="en-US" sz="1000" dirty="0">
                <a:effectLst/>
              </a:rPr>
              <a:t>does</a:t>
            </a:r>
            <a:r>
              <a:rPr lang="en-US" sz="1000" dirty="0"/>
              <a:t>.</a:t>
            </a:r>
          </a:p>
          <a:p>
            <a:pPr marL="171450" indent="-171450"/>
            <a:r>
              <a:rPr lang="en-US" sz="1000" b="1" dirty="0"/>
              <a:t>Loads, Forces &amp; Torques:</a:t>
            </a:r>
            <a:endParaRPr lang="en-US" sz="1000" dirty="0"/>
          </a:p>
          <a:p>
            <a:pPr marL="628650" lvl="1" indent="-171450"/>
            <a:r>
              <a:rPr lang="en-US" sz="1000" dirty="0">
                <a:effectLst/>
              </a:rPr>
              <a:t>Logic:</a:t>
            </a:r>
            <a:r>
              <a:rPr lang="en-US" sz="1000" dirty="0"/>
              <a:t> Detects </a:t>
            </a:r>
            <a:r>
              <a:rPr lang="en-US" sz="1000" b="1" dirty="0"/>
              <a:t>Passive Constraints/Inputs</a:t>
            </a:r>
            <a:r>
              <a:rPr lang="en-US" sz="1000" dirty="0"/>
              <a:t> (The Endurance).</a:t>
            </a:r>
          </a:p>
          <a:p>
            <a:pPr marL="628650" lvl="1" indent="-171450"/>
            <a:r>
              <a:rPr lang="en-US" sz="1000" dirty="0">
                <a:effectLst/>
              </a:rPr>
              <a:t>Triggers:</a:t>
            </a:r>
            <a:r>
              <a:rPr lang="en-US" sz="1000" dirty="0"/>
              <a:t> Environmental stressors, Burst pressure limits, G-force limits, Static torque limits, Structural loads.</a:t>
            </a:r>
          </a:p>
          <a:p>
            <a:pPr marL="628650" lvl="1" indent="-171450"/>
            <a:r>
              <a:rPr lang="en-US" sz="1000" dirty="0">
                <a:effectLst/>
              </a:rPr>
              <a:t>Differentiation:</a:t>
            </a:r>
            <a:r>
              <a:rPr lang="en-US" sz="1000" dirty="0"/>
              <a:t> Describes what the system </a:t>
            </a:r>
            <a:r>
              <a:rPr lang="en-US" sz="1000" dirty="0">
                <a:effectLst/>
              </a:rPr>
              <a:t>must withstand</a:t>
            </a:r>
            <a:r>
              <a:rPr lang="en-US" sz="1000" dirty="0"/>
              <a:t>.</a:t>
            </a:r>
          </a:p>
          <a:p>
            <a:endParaRPr lang="en-US" sz="1000" b="1" dirty="0"/>
          </a:p>
          <a:p>
            <a:r>
              <a:rPr lang="en-US" sz="1000" b="1" dirty="0"/>
              <a:t>Group 4: The Verification &amp; Analysis Modules</a:t>
            </a:r>
          </a:p>
          <a:p>
            <a:pPr marL="171450" indent="-171450"/>
            <a:r>
              <a:rPr lang="en-US" sz="1000" b="1" dirty="0"/>
              <a:t>Test Data:</a:t>
            </a:r>
            <a:endParaRPr lang="en-US" sz="1000" dirty="0"/>
          </a:p>
          <a:p>
            <a:pPr marL="628650" lvl="1" indent="-171450"/>
            <a:r>
              <a:rPr lang="en-US" sz="1000" dirty="0">
                <a:effectLst/>
              </a:rPr>
              <a:t>Logic:</a:t>
            </a:r>
            <a:r>
              <a:rPr lang="en-US" sz="1000" dirty="0"/>
              <a:t> Detects </a:t>
            </a:r>
            <a:r>
              <a:rPr lang="en-US" sz="1000" b="1" dirty="0"/>
              <a:t>Observed Results</a:t>
            </a:r>
            <a:r>
              <a:rPr lang="en-US" sz="1000" dirty="0"/>
              <a:t> from validation.</a:t>
            </a:r>
          </a:p>
          <a:p>
            <a:pPr marL="628650" lvl="1" indent="-171450"/>
            <a:r>
              <a:rPr lang="en-US" sz="1000" dirty="0">
                <a:effectLst/>
              </a:rPr>
              <a:t>Triggers:</a:t>
            </a:r>
            <a:r>
              <a:rPr lang="en-US" sz="1000" dirty="0"/>
              <a:t> Measured at, Actual value, Pass/Fail results, Deviation from spec during testing.</a:t>
            </a:r>
          </a:p>
          <a:p>
            <a:pPr marL="628650" lvl="1" indent="-171450"/>
            <a:r>
              <a:rPr lang="en-US" sz="1000" dirty="0">
                <a:effectLst/>
              </a:rPr>
              <a:t>Differentiation:</a:t>
            </a:r>
            <a:r>
              <a:rPr lang="en-US" sz="1000" dirty="0"/>
              <a:t> Must describe a historical event/measurement, not a theoretical requirement.</a:t>
            </a:r>
          </a:p>
          <a:p>
            <a:pPr marL="171450" indent="-171450"/>
            <a:r>
              <a:rPr lang="en-US" sz="1000" b="1" dirty="0"/>
              <a:t>Failure Analysis:</a:t>
            </a:r>
            <a:endParaRPr lang="en-US" sz="1000" dirty="0"/>
          </a:p>
          <a:p>
            <a:pPr marL="628650" lvl="1" indent="-171450"/>
            <a:r>
              <a:rPr lang="en-US" sz="1000" dirty="0">
                <a:effectLst/>
              </a:rPr>
              <a:t>Logic:</a:t>
            </a:r>
            <a:r>
              <a:rPr lang="en-US" sz="1000" dirty="0"/>
              <a:t> Detects </a:t>
            </a:r>
            <a:r>
              <a:rPr lang="en-US" sz="1000" b="1" dirty="0"/>
              <a:t>Root Cause &amp; Investigation</a:t>
            </a:r>
            <a:r>
              <a:rPr lang="en-US" sz="1000" dirty="0"/>
              <a:t>.</a:t>
            </a:r>
          </a:p>
          <a:p>
            <a:pPr marL="628650" lvl="1" indent="-171450"/>
            <a:r>
              <a:rPr lang="en-US" sz="1000" dirty="0">
                <a:effectLst/>
              </a:rPr>
              <a:t>Triggers:</a:t>
            </a:r>
            <a:r>
              <a:rPr lang="en-US" sz="1000" dirty="0"/>
              <a:t> Crack propagation measurements, wear depth, chemical contamination analysis, fracture mechanics.</a:t>
            </a:r>
          </a:p>
          <a:p>
            <a:pPr marL="171450" indent="-171450"/>
            <a:r>
              <a:rPr lang="en-US" sz="1000" b="1" dirty="0"/>
              <a:t>Technical Standards:</a:t>
            </a:r>
            <a:endParaRPr lang="en-US" sz="1000" dirty="0"/>
          </a:p>
          <a:p>
            <a:pPr marL="628650" lvl="1" indent="-171450"/>
            <a:r>
              <a:rPr lang="en-US" sz="1000" dirty="0">
                <a:effectLst/>
              </a:rPr>
              <a:t>Logic:</a:t>
            </a:r>
            <a:r>
              <a:rPr lang="en-US" sz="1000" dirty="0"/>
              <a:t> Detects </a:t>
            </a:r>
            <a:r>
              <a:rPr lang="en-US" sz="1000" b="1" dirty="0"/>
              <a:t>Traceability</a:t>
            </a:r>
            <a:r>
              <a:rPr lang="en-US" sz="1000" dirty="0"/>
              <a:t>.</a:t>
            </a:r>
          </a:p>
          <a:p>
            <a:pPr marL="628650" lvl="1" indent="-171450"/>
            <a:r>
              <a:rPr lang="en-US" sz="1000" dirty="0">
                <a:effectLst/>
              </a:rPr>
              <a:t>Triggers:</a:t>
            </a:r>
            <a:r>
              <a:rPr lang="en-US" sz="1000" dirty="0"/>
              <a:t> Specific citations of industry standards (ASTM, AMS, MIL-STD) </a:t>
            </a:r>
            <a:r>
              <a:rPr lang="en-US" sz="1000" dirty="0">
                <a:effectLst/>
              </a:rPr>
              <a:t>combined with</a:t>
            </a:r>
            <a:r>
              <a:rPr lang="en-US" sz="1000" dirty="0"/>
              <a:t> specific section/paragraph numbers.</a:t>
            </a:r>
          </a:p>
        </p:txBody>
      </p:sp>
    </p:spTree>
    <p:extLst>
      <p:ext uri="{BB962C8B-B14F-4D97-AF65-F5344CB8AC3E}">
        <p14:creationId xmlns:p14="http://schemas.microsoft.com/office/powerpoint/2010/main" val="61135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4888C-4AA4-E8C7-1F13-3304A09A3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BCA95-1604-FC77-B4A9-50A6C195B4B8}"/>
              </a:ext>
            </a:extLst>
          </p:cNvPr>
          <p:cNvSpPr>
            <a:spLocks noGrp="1"/>
          </p:cNvSpPr>
          <p:nvPr>
            <p:ph type="title"/>
          </p:nvPr>
        </p:nvSpPr>
        <p:spPr/>
        <p:txBody>
          <a:bodyPr/>
          <a:lstStyle/>
          <a:p>
            <a:endParaRPr lang="en-US"/>
          </a:p>
        </p:txBody>
      </p:sp>
      <p:graphicFrame>
        <p:nvGraphicFramePr>
          <p:cNvPr id="6" name="Content Placeholder 5">
            <a:extLst>
              <a:ext uri="{FF2B5EF4-FFF2-40B4-BE49-F238E27FC236}">
                <a16:creationId xmlns:a16="http://schemas.microsoft.com/office/drawing/2014/main" id="{8EABBAB5-5636-A6A3-7EA0-5D497ED8C185}"/>
              </a:ext>
            </a:extLst>
          </p:cNvPr>
          <p:cNvGraphicFramePr>
            <a:graphicFrameLocks noGrp="1"/>
          </p:cNvGraphicFramePr>
          <p:nvPr>
            <p:ph idx="1"/>
            <p:extLst>
              <p:ext uri="{D42A27DB-BD31-4B8C-83A1-F6EECF244321}">
                <p14:modId xmlns:p14="http://schemas.microsoft.com/office/powerpoint/2010/main" val="3605927468"/>
              </p:ext>
            </p:extLst>
          </p:nvPr>
        </p:nvGraphicFramePr>
        <p:xfrm>
          <a:off x="1904530" y="3429000"/>
          <a:ext cx="7553063" cy="1987868"/>
        </p:xfrm>
        <a:graphic>
          <a:graphicData uri="http://schemas.openxmlformats.org/drawingml/2006/table">
            <a:tbl>
              <a:tblPr>
                <a:tableStyleId>{5C22544A-7EE6-4342-B048-85BDC9FD1C3A}</a:tableStyleId>
              </a:tblPr>
              <a:tblGrid>
                <a:gridCol w="533985">
                  <a:extLst>
                    <a:ext uri="{9D8B030D-6E8A-4147-A177-3AD203B41FA5}">
                      <a16:colId xmlns:a16="http://schemas.microsoft.com/office/drawing/2014/main" val="3073658485"/>
                    </a:ext>
                  </a:extLst>
                </a:gridCol>
                <a:gridCol w="533985">
                  <a:extLst>
                    <a:ext uri="{9D8B030D-6E8A-4147-A177-3AD203B41FA5}">
                      <a16:colId xmlns:a16="http://schemas.microsoft.com/office/drawing/2014/main" val="1728629085"/>
                    </a:ext>
                  </a:extLst>
                </a:gridCol>
                <a:gridCol w="554211">
                  <a:extLst>
                    <a:ext uri="{9D8B030D-6E8A-4147-A177-3AD203B41FA5}">
                      <a16:colId xmlns:a16="http://schemas.microsoft.com/office/drawing/2014/main" val="3395535838"/>
                    </a:ext>
                  </a:extLst>
                </a:gridCol>
                <a:gridCol w="400488">
                  <a:extLst>
                    <a:ext uri="{9D8B030D-6E8A-4147-A177-3AD203B41FA5}">
                      <a16:colId xmlns:a16="http://schemas.microsoft.com/office/drawing/2014/main" val="4258383727"/>
                    </a:ext>
                  </a:extLst>
                </a:gridCol>
                <a:gridCol w="610846">
                  <a:extLst>
                    <a:ext uri="{9D8B030D-6E8A-4147-A177-3AD203B41FA5}">
                      <a16:colId xmlns:a16="http://schemas.microsoft.com/office/drawing/2014/main" val="3397131493"/>
                    </a:ext>
                  </a:extLst>
                </a:gridCol>
                <a:gridCol w="4919548">
                  <a:extLst>
                    <a:ext uri="{9D8B030D-6E8A-4147-A177-3AD203B41FA5}">
                      <a16:colId xmlns:a16="http://schemas.microsoft.com/office/drawing/2014/main" val="407761949"/>
                    </a:ext>
                  </a:extLst>
                </a:gridCol>
              </a:tblGrid>
              <a:tr h="164593">
                <a:tc>
                  <a:txBody>
                    <a:bodyPr/>
                    <a:lstStyle/>
                    <a:p>
                      <a:pPr algn="l" fontAlgn="b">
                        <a:buNone/>
                      </a:pPr>
                      <a:r>
                        <a:rPr lang="en-US" sz="1000" b="0" i="0" u="none" strike="noStrike" dirty="0">
                          <a:solidFill>
                            <a:srgbClr val="000000"/>
                          </a:solidFill>
                          <a:effectLst/>
                          <a:latin typeface="Aptos Narrow" panose="020B0004020202020204" pitchFamily="34" charset="0"/>
                        </a:rPr>
                        <a:t>Categorization</a:t>
                      </a:r>
                    </a:p>
                  </a:txBody>
                  <a:tcPr marL="3334" marR="3334" marT="3334" marB="0" anchor="b"/>
                </a:tc>
                <a:tc>
                  <a:txBody>
                    <a:bodyPr/>
                    <a:lstStyle/>
                    <a:p>
                      <a:pPr algn="l" fontAlgn="b">
                        <a:buNone/>
                      </a:pPr>
                      <a:r>
                        <a:rPr lang="en-US" sz="1000" u="none" strike="noStrike">
                          <a:effectLst/>
                        </a:rPr>
                        <a:t>PROBLEM_CODE_TEXT</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DESCRIPTION</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MATERIAL</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MATERIAL_DESCRIPTION</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LONG_TEXT</a:t>
                      </a:r>
                      <a:endParaRPr lang="en-US" sz="1000" b="0" i="0" u="none" strike="noStrike">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3230673642"/>
                  </a:ext>
                </a:extLst>
              </a:tr>
              <a:tr h="547597">
                <a:tc>
                  <a:txBody>
                    <a:bodyPr/>
                    <a:lstStyle/>
                    <a:p>
                      <a:pPr algn="l" fontAlgn="b">
                        <a:buNone/>
                      </a:pPr>
                      <a:r>
                        <a:rPr lang="en-US" sz="10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1000" u="none" strike="noStrike" dirty="0">
                          <a:effectLst/>
                        </a:rPr>
                        <a:t>Documentation/Paperwork</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MISSING CERT PACKAGE</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WHL-8844</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WHEEL ASSEMBLY</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highlight>
                            <a:srgbClr val="FFFF00"/>
                          </a:highlight>
                        </a:rPr>
                        <a:t>03/09/2024 09:12:24 GMT </a:t>
                      </a:r>
                      <a:r>
                        <a:rPr lang="en-US" sz="1000" u="none" strike="noStrike" dirty="0">
                          <a:effectLst/>
                          <a:highlight>
                            <a:srgbClr val="00FF00"/>
                          </a:highlight>
                        </a:rPr>
                        <a:t>Patrick Jackson </a:t>
                      </a:r>
                      <a:r>
                        <a:rPr lang="en-US" sz="1000" u="none" strike="noStrike" dirty="0">
                          <a:effectLst/>
                          <a:highlight>
                            <a:srgbClr val="00FFFF"/>
                          </a:highlight>
                        </a:rPr>
                        <a:t>(C28091905) </a:t>
                      </a:r>
                      <a:r>
                        <a:rPr lang="en-US" sz="1000" u="none" strike="noStrike" dirty="0">
                          <a:effectLst/>
                          <a:highlight>
                            <a:srgbClr val="FFFF00"/>
                          </a:highlight>
                        </a:rPr>
                        <a:t>03.09.2024 09:01:10 GMT </a:t>
                      </a:r>
                      <a:r>
                        <a:rPr lang="en-US" sz="1000" u="none" strike="noStrike" dirty="0">
                          <a:effectLst/>
                          <a:highlight>
                            <a:srgbClr val="00FF00"/>
                          </a:highlight>
                        </a:rPr>
                        <a:t>John Smith</a:t>
                      </a:r>
                      <a:r>
                        <a:rPr lang="en-US" sz="1000" u="none" strike="noStrike" dirty="0">
                          <a:effectLst/>
                        </a:rPr>
                        <a:t> </a:t>
                      </a:r>
                      <a:r>
                        <a:rPr lang="en-US" sz="1000" u="none" strike="noStrike" dirty="0">
                          <a:effectLst/>
                          <a:highlight>
                            <a:srgbClr val="00FFFF"/>
                          </a:highlight>
                        </a:rPr>
                        <a:t>(008008) </a:t>
                      </a:r>
                      <a:r>
                        <a:rPr lang="en-US" sz="1000" u="none" strike="noStrike" dirty="0">
                          <a:effectLst/>
                          <a:highlight>
                            <a:srgbClr val="008000"/>
                          </a:highlight>
                        </a:rPr>
                        <a:t>Non-conforming Part Number(detail) including configuration </a:t>
                      </a:r>
                      <a:r>
                        <a:rPr lang="en-US" sz="1000" u="none" strike="noStrike" dirty="0">
                          <a:effectLst/>
                        </a:rPr>
                        <a:t>= </a:t>
                      </a:r>
                      <a:r>
                        <a:rPr lang="en-US" sz="1000" u="none" strike="noStrike" dirty="0">
                          <a:effectLst/>
                          <a:highlight>
                            <a:srgbClr val="800080"/>
                          </a:highlight>
                        </a:rPr>
                        <a:t>157-301-888</a:t>
                      </a:r>
                      <a:r>
                        <a:rPr lang="en-US" sz="1000" u="none" strike="noStrike" dirty="0">
                          <a:effectLst/>
                        </a:rPr>
                        <a:t>,,</a:t>
                      </a:r>
                      <a:r>
                        <a:rPr lang="en-US" sz="1000" u="none" strike="noStrike" dirty="0">
                          <a:effectLst/>
                          <a:highlight>
                            <a:srgbClr val="008080"/>
                          </a:highlight>
                        </a:rPr>
                        <a:t>WHEEL ASSEMBLY MAIN GEAR</a:t>
                      </a:r>
                      <a:r>
                        <a:rPr lang="en-US" sz="1000" u="none" strike="noStrike" dirty="0">
                          <a:effectLst/>
                        </a:rPr>
                        <a:t>. </a:t>
                      </a:r>
                      <a:r>
                        <a:rPr lang="en-US" sz="1000" u="none" strike="noStrike" dirty="0">
                          <a:effectLst/>
                          <a:highlight>
                            <a:srgbClr val="FF0000"/>
                          </a:highlight>
                        </a:rPr>
                        <a:t>SUPPLIER</a:t>
                      </a:r>
                      <a:r>
                        <a:rPr lang="en-US" sz="1000" u="none" strike="noStrike" dirty="0">
                          <a:effectLst/>
                        </a:rPr>
                        <a:t> WAS SUPPOSED TO INCLUDE </a:t>
                      </a:r>
                      <a:r>
                        <a:rPr lang="en-US" sz="1000" u="none" strike="noStrike" dirty="0">
                          <a:effectLst/>
                          <a:highlight>
                            <a:srgbClr val="808000"/>
                          </a:highlight>
                        </a:rPr>
                        <a:t>CERTIFICATION</a:t>
                      </a:r>
                      <a:r>
                        <a:rPr lang="en-US" sz="1000" u="none" strike="noStrike" dirty="0">
                          <a:effectLst/>
                        </a:rPr>
                        <a:t> PACKAGE PER PO REQUIREMENTS. PACKAGE NOT FOUND IN SHIPMENT. CONTACTED SUPPLIER AND THEY CONFIRMED THEY WILL SEND VIA EMAIL BY END OF DAY. Part Sn(s):,,WH-5521, WH-5522, WH-5523 Eng. Drawing:,,334-PLT-001 Rev C NOTE: PARTS ARE IN RECEIVING HOLD AREA UNTIL PAPERWORK ARRIVES. INSPECTOR CONFIRMED QUANTITY AND PART NUMBERS MATCH PO. 03/10/2024 08:15:33 GMT Patrick Jackson (C28091905) RECEIVED EMAIL WITH CERTIFICATION PACKAGE. MRB/QA REVIEWED AND APPROVED FOR RELEASE TO STOCK.</a:t>
                      </a:r>
                      <a:endParaRPr lang="en-US" sz="1000" b="0" i="0" u="none" strike="noStrike" dirty="0">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680443442"/>
                  </a:ext>
                </a:extLst>
              </a:tr>
            </a:tbl>
          </a:graphicData>
        </a:graphic>
      </p:graphicFrame>
      <p:cxnSp>
        <p:nvCxnSpPr>
          <p:cNvPr id="8" name="Straight Arrow Connector 7">
            <a:extLst>
              <a:ext uri="{FF2B5EF4-FFF2-40B4-BE49-F238E27FC236}">
                <a16:creationId xmlns:a16="http://schemas.microsoft.com/office/drawing/2014/main" id="{413468F2-8A9E-8344-4DC3-172389EE92EC}"/>
              </a:ext>
            </a:extLst>
          </p:cNvPr>
          <p:cNvCxnSpPr/>
          <p:nvPr/>
        </p:nvCxnSpPr>
        <p:spPr>
          <a:xfrm flipV="1">
            <a:off x="5213967" y="3154318"/>
            <a:ext cx="227337" cy="732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D523C6FB-90EF-F9DD-3559-B3F65153AB77}"/>
              </a:ext>
            </a:extLst>
          </p:cNvPr>
          <p:cNvSpPr/>
          <p:nvPr/>
        </p:nvSpPr>
        <p:spPr>
          <a:xfrm>
            <a:off x="5344704" y="2381373"/>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Temporal Interval</a:t>
            </a:r>
          </a:p>
        </p:txBody>
      </p:sp>
      <p:sp>
        <p:nvSpPr>
          <p:cNvPr id="3" name="Oval 2">
            <a:extLst>
              <a:ext uri="{FF2B5EF4-FFF2-40B4-BE49-F238E27FC236}">
                <a16:creationId xmlns:a16="http://schemas.microsoft.com/office/drawing/2014/main" id="{217BF252-D809-A8D6-B96D-E3A9C8641727}"/>
              </a:ext>
            </a:extLst>
          </p:cNvPr>
          <p:cNvSpPr/>
          <p:nvPr/>
        </p:nvSpPr>
        <p:spPr>
          <a:xfrm>
            <a:off x="6360985" y="2381373"/>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Person</a:t>
            </a:r>
          </a:p>
        </p:txBody>
      </p:sp>
      <p:cxnSp>
        <p:nvCxnSpPr>
          <p:cNvPr id="4" name="Straight Arrow Connector 3">
            <a:extLst>
              <a:ext uri="{FF2B5EF4-FFF2-40B4-BE49-F238E27FC236}">
                <a16:creationId xmlns:a16="http://schemas.microsoft.com/office/drawing/2014/main" id="{4A57101B-2B0E-61B6-45A8-925F69650A99}"/>
              </a:ext>
            </a:extLst>
          </p:cNvPr>
          <p:cNvCxnSpPr/>
          <p:nvPr/>
        </p:nvCxnSpPr>
        <p:spPr>
          <a:xfrm flipV="1">
            <a:off x="6412118" y="3154318"/>
            <a:ext cx="227337" cy="732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6EA7505D-2A93-6F35-C2AC-35E3A5AAB9B5}"/>
              </a:ext>
            </a:extLst>
          </p:cNvPr>
          <p:cNvCxnSpPr/>
          <p:nvPr/>
        </p:nvCxnSpPr>
        <p:spPr>
          <a:xfrm flipV="1">
            <a:off x="7263597" y="3154317"/>
            <a:ext cx="227337" cy="732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013C45E6-8AA1-E840-F828-274D6A28CA19}"/>
              </a:ext>
            </a:extLst>
          </p:cNvPr>
          <p:cNvSpPr/>
          <p:nvPr/>
        </p:nvSpPr>
        <p:spPr>
          <a:xfrm>
            <a:off x="7275578" y="2381373"/>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Person Identifier</a:t>
            </a:r>
          </a:p>
        </p:txBody>
      </p:sp>
      <p:sp>
        <p:nvSpPr>
          <p:cNvPr id="10" name="Oval 9">
            <a:extLst>
              <a:ext uri="{FF2B5EF4-FFF2-40B4-BE49-F238E27FC236}">
                <a16:creationId xmlns:a16="http://schemas.microsoft.com/office/drawing/2014/main" id="{947E963C-60CF-E874-90DE-CA6DA827BE6C}"/>
              </a:ext>
            </a:extLst>
          </p:cNvPr>
          <p:cNvSpPr/>
          <p:nvPr/>
        </p:nvSpPr>
        <p:spPr>
          <a:xfrm>
            <a:off x="8364268" y="2381371"/>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Organization</a:t>
            </a:r>
          </a:p>
        </p:txBody>
      </p:sp>
      <p:cxnSp>
        <p:nvCxnSpPr>
          <p:cNvPr id="11" name="Straight Arrow Connector 10">
            <a:extLst>
              <a:ext uri="{FF2B5EF4-FFF2-40B4-BE49-F238E27FC236}">
                <a16:creationId xmlns:a16="http://schemas.microsoft.com/office/drawing/2014/main" id="{C49691B9-B955-DF03-17E0-BB4FAB3856BF}"/>
              </a:ext>
            </a:extLst>
          </p:cNvPr>
          <p:cNvCxnSpPr>
            <a:cxnSpLocks/>
            <a:endCxn id="10" idx="4"/>
          </p:cNvCxnSpPr>
          <p:nvPr/>
        </p:nvCxnSpPr>
        <p:spPr>
          <a:xfrm flipV="1">
            <a:off x="6837857" y="3154317"/>
            <a:ext cx="1912884" cy="1050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5143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5492-9083-5000-C2D4-FC1BDAF7BB25}"/>
              </a:ext>
            </a:extLst>
          </p:cNvPr>
          <p:cNvSpPr>
            <a:spLocks noGrp="1"/>
          </p:cNvSpPr>
          <p:nvPr>
            <p:ph type="title"/>
          </p:nvPr>
        </p:nvSpPr>
        <p:spPr/>
        <p:txBody>
          <a:bodyPr/>
          <a:lstStyle/>
          <a:p>
            <a:endParaRPr lang="en-US"/>
          </a:p>
        </p:txBody>
      </p:sp>
      <p:graphicFrame>
        <p:nvGraphicFramePr>
          <p:cNvPr id="6" name="Content Placeholder 5">
            <a:extLst>
              <a:ext uri="{FF2B5EF4-FFF2-40B4-BE49-F238E27FC236}">
                <a16:creationId xmlns:a16="http://schemas.microsoft.com/office/drawing/2014/main" id="{8FE2125A-25D5-7B6B-0062-8C33FCB034CA}"/>
              </a:ext>
            </a:extLst>
          </p:cNvPr>
          <p:cNvGraphicFramePr>
            <a:graphicFrameLocks noGrp="1"/>
          </p:cNvGraphicFramePr>
          <p:nvPr>
            <p:ph idx="1"/>
            <p:extLst>
              <p:ext uri="{D42A27DB-BD31-4B8C-83A1-F6EECF244321}">
                <p14:modId xmlns:p14="http://schemas.microsoft.com/office/powerpoint/2010/main" val="758994538"/>
              </p:ext>
            </p:extLst>
          </p:nvPr>
        </p:nvGraphicFramePr>
        <p:xfrm>
          <a:off x="489617" y="3528127"/>
          <a:ext cx="7553063" cy="1987868"/>
        </p:xfrm>
        <a:graphic>
          <a:graphicData uri="http://schemas.openxmlformats.org/drawingml/2006/table">
            <a:tbl>
              <a:tblPr>
                <a:tableStyleId>{5C22544A-7EE6-4342-B048-85BDC9FD1C3A}</a:tableStyleId>
              </a:tblPr>
              <a:tblGrid>
                <a:gridCol w="533985">
                  <a:extLst>
                    <a:ext uri="{9D8B030D-6E8A-4147-A177-3AD203B41FA5}">
                      <a16:colId xmlns:a16="http://schemas.microsoft.com/office/drawing/2014/main" val="3073658485"/>
                    </a:ext>
                  </a:extLst>
                </a:gridCol>
                <a:gridCol w="533985">
                  <a:extLst>
                    <a:ext uri="{9D8B030D-6E8A-4147-A177-3AD203B41FA5}">
                      <a16:colId xmlns:a16="http://schemas.microsoft.com/office/drawing/2014/main" val="1728629085"/>
                    </a:ext>
                  </a:extLst>
                </a:gridCol>
                <a:gridCol w="554211">
                  <a:extLst>
                    <a:ext uri="{9D8B030D-6E8A-4147-A177-3AD203B41FA5}">
                      <a16:colId xmlns:a16="http://schemas.microsoft.com/office/drawing/2014/main" val="3395535838"/>
                    </a:ext>
                  </a:extLst>
                </a:gridCol>
                <a:gridCol w="400488">
                  <a:extLst>
                    <a:ext uri="{9D8B030D-6E8A-4147-A177-3AD203B41FA5}">
                      <a16:colId xmlns:a16="http://schemas.microsoft.com/office/drawing/2014/main" val="4258383727"/>
                    </a:ext>
                  </a:extLst>
                </a:gridCol>
                <a:gridCol w="610846">
                  <a:extLst>
                    <a:ext uri="{9D8B030D-6E8A-4147-A177-3AD203B41FA5}">
                      <a16:colId xmlns:a16="http://schemas.microsoft.com/office/drawing/2014/main" val="3397131493"/>
                    </a:ext>
                  </a:extLst>
                </a:gridCol>
                <a:gridCol w="4919548">
                  <a:extLst>
                    <a:ext uri="{9D8B030D-6E8A-4147-A177-3AD203B41FA5}">
                      <a16:colId xmlns:a16="http://schemas.microsoft.com/office/drawing/2014/main" val="407761949"/>
                    </a:ext>
                  </a:extLst>
                </a:gridCol>
              </a:tblGrid>
              <a:tr h="164593">
                <a:tc>
                  <a:txBody>
                    <a:bodyPr/>
                    <a:lstStyle/>
                    <a:p>
                      <a:pPr algn="l" fontAlgn="b">
                        <a:buNone/>
                      </a:pPr>
                      <a:r>
                        <a:rPr lang="en-US" sz="1000" b="0" i="0" u="none" strike="noStrike" dirty="0">
                          <a:solidFill>
                            <a:srgbClr val="000000"/>
                          </a:solidFill>
                          <a:effectLst/>
                          <a:latin typeface="Aptos Narrow" panose="020B0004020202020204" pitchFamily="34" charset="0"/>
                        </a:rPr>
                        <a:t>Categorization</a:t>
                      </a:r>
                    </a:p>
                  </a:txBody>
                  <a:tcPr marL="3334" marR="3334" marT="3334" marB="0" anchor="b"/>
                </a:tc>
                <a:tc>
                  <a:txBody>
                    <a:bodyPr/>
                    <a:lstStyle/>
                    <a:p>
                      <a:pPr algn="l" fontAlgn="b">
                        <a:buNone/>
                      </a:pPr>
                      <a:r>
                        <a:rPr lang="en-US" sz="1000" u="none" strike="noStrike">
                          <a:effectLst/>
                        </a:rPr>
                        <a:t>PROBLEM_CODE_TEXT</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DESCRIPTION</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MATERIAL</a:t>
                      </a:r>
                      <a:endParaRPr lang="en-US" sz="1000" b="0" i="0" u="none" strike="noStrike">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MATERIAL_DESCRIPTION</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a:effectLst/>
                        </a:rPr>
                        <a:t>LONG_TEXT</a:t>
                      </a:r>
                      <a:endParaRPr lang="en-US" sz="1000" b="0" i="0" u="none" strike="noStrike">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3230673642"/>
                  </a:ext>
                </a:extLst>
              </a:tr>
              <a:tr h="547597">
                <a:tc>
                  <a:txBody>
                    <a:bodyPr/>
                    <a:lstStyle/>
                    <a:p>
                      <a:pPr algn="l" fontAlgn="b">
                        <a:buNone/>
                      </a:pPr>
                      <a:r>
                        <a:rPr lang="en-US" sz="1000" b="0" i="0" u="none" strike="noStrike" dirty="0">
                          <a:solidFill>
                            <a:srgbClr val="000000"/>
                          </a:solidFill>
                          <a:effectLst/>
                          <a:latin typeface="Aptos Narrow" panose="020B0004020202020204" pitchFamily="34" charset="0"/>
                        </a:rPr>
                        <a:t>N</a:t>
                      </a:r>
                    </a:p>
                  </a:txBody>
                  <a:tcPr marL="3334" marR="3334" marT="3334" marB="0" anchor="b"/>
                </a:tc>
                <a:tc>
                  <a:txBody>
                    <a:bodyPr/>
                    <a:lstStyle/>
                    <a:p>
                      <a:pPr algn="l" fontAlgn="b">
                        <a:buNone/>
                      </a:pPr>
                      <a:r>
                        <a:rPr lang="en-US" sz="1000" u="none" strike="noStrike" dirty="0">
                          <a:effectLst/>
                        </a:rPr>
                        <a:t>Documentation/Paperwork</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MISSING CERT PACKAGE</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WHL-8844</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WHEEL ASSEMBLY</a:t>
                      </a:r>
                      <a:endParaRPr lang="en-US" sz="1000" b="0" i="0" u="none" strike="noStrike" dirty="0">
                        <a:solidFill>
                          <a:srgbClr val="000000"/>
                        </a:solidFill>
                        <a:effectLst/>
                        <a:latin typeface="Aptos Narrow" panose="020B0004020202020204" pitchFamily="34" charset="0"/>
                      </a:endParaRPr>
                    </a:p>
                  </a:txBody>
                  <a:tcPr marL="3334" marR="3334" marT="3334" marB="0" anchor="b"/>
                </a:tc>
                <a:tc>
                  <a:txBody>
                    <a:bodyPr/>
                    <a:lstStyle/>
                    <a:p>
                      <a:pPr algn="l" fontAlgn="b">
                        <a:buNone/>
                      </a:pPr>
                      <a:r>
                        <a:rPr lang="en-US" sz="1000" u="none" strike="noStrike" dirty="0">
                          <a:effectLst/>
                        </a:rPr>
                        <a:t>03/09/2024 09:12:24 GMT Patrick Jackson (C28091905) 03.09.2024 09:01:10 GMT John Smith (008008) Non-conforming Part Number(detail) including configuration = 157-301-888,,WHEEL ASSEMBLY MAIN GEAR. SUPPLIER WAS SUPPOSED TO INCLUDE CERTIFICATION PACKAGE PER PO REQUIREMENTS. PACKAGE NOT FOUND IN SHIPMENT. CONTACTED SUPPLIER AND THEY CONFIRMED THEY WILL SEND VIA EMAIL BY END OF DAY. Part Sn(s):,,WH-5521, WH-5522, WH-5523 Eng. Drawing:,,334-PLT-001 Rev C NOTE: PARTS ARE IN RECEIVING HOLD AREA UNTIL PAPERWORK ARRIVES. INSPECTOR CONFIRMED QUANTITY AND PART NUMBERS MATCH PO. 03/10/2024 08:15:33 GMT Patrick Jackson (C28091905) RECEIVED EMAIL WITH CERTIFICATION PACKAGE. MRB/QA REVIEWED AND APPROVED FOR RELEASE TO STOCK.</a:t>
                      </a:r>
                      <a:endParaRPr lang="en-US" sz="1000" b="0" i="0" u="none" strike="noStrike" dirty="0">
                        <a:solidFill>
                          <a:srgbClr val="000000"/>
                        </a:solidFill>
                        <a:effectLst/>
                        <a:latin typeface="Aptos Narrow" panose="020B0004020202020204" pitchFamily="34" charset="0"/>
                      </a:endParaRPr>
                    </a:p>
                  </a:txBody>
                  <a:tcPr marL="3334" marR="3334" marT="3334" marB="0" anchor="b"/>
                </a:tc>
                <a:extLst>
                  <a:ext uri="{0D108BD9-81ED-4DB2-BD59-A6C34878D82A}">
                    <a16:rowId xmlns:a16="http://schemas.microsoft.com/office/drawing/2014/main" val="680443442"/>
                  </a:ext>
                </a:extLst>
              </a:tr>
            </a:tbl>
          </a:graphicData>
        </a:graphic>
      </p:graphicFrame>
      <p:cxnSp>
        <p:nvCxnSpPr>
          <p:cNvPr id="8" name="Straight Arrow Connector 7">
            <a:extLst>
              <a:ext uri="{FF2B5EF4-FFF2-40B4-BE49-F238E27FC236}">
                <a16:creationId xmlns:a16="http://schemas.microsoft.com/office/drawing/2014/main" id="{2A34EDFB-1C0E-3B36-0F97-43ED63834618}"/>
              </a:ext>
            </a:extLst>
          </p:cNvPr>
          <p:cNvCxnSpPr/>
          <p:nvPr/>
        </p:nvCxnSpPr>
        <p:spPr>
          <a:xfrm flipV="1">
            <a:off x="5099926" y="3269864"/>
            <a:ext cx="227337" cy="7325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E658A947-14F9-740B-B42C-AD562B4E4F39}"/>
              </a:ext>
            </a:extLst>
          </p:cNvPr>
          <p:cNvSpPr/>
          <p:nvPr/>
        </p:nvSpPr>
        <p:spPr>
          <a:xfrm>
            <a:off x="4309299" y="1874268"/>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Material Specifications</a:t>
            </a:r>
          </a:p>
        </p:txBody>
      </p:sp>
      <p:sp>
        <p:nvSpPr>
          <p:cNvPr id="12" name="Oval 11">
            <a:extLst>
              <a:ext uri="{FF2B5EF4-FFF2-40B4-BE49-F238E27FC236}">
                <a16:creationId xmlns:a16="http://schemas.microsoft.com/office/drawing/2014/main" id="{3E7692FD-4E4B-7731-A9F4-B6D7D9B5C38F}"/>
              </a:ext>
            </a:extLst>
          </p:cNvPr>
          <p:cNvSpPr/>
          <p:nvPr/>
        </p:nvSpPr>
        <p:spPr>
          <a:xfrm>
            <a:off x="5425777" y="1874268"/>
            <a:ext cx="772946" cy="772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t>Manufacturing Parameters</a:t>
            </a:r>
          </a:p>
        </p:txBody>
      </p:sp>
    </p:spTree>
    <p:extLst>
      <p:ext uri="{BB962C8B-B14F-4D97-AF65-F5344CB8AC3E}">
        <p14:creationId xmlns:p14="http://schemas.microsoft.com/office/powerpoint/2010/main" val="1556307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545</TotalTime>
  <Words>2205</Words>
  <Application>Microsoft Office PowerPoint</Application>
  <PresentationFormat>Widescreen</PresentationFormat>
  <Paragraphs>158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Aptos Narrow</vt:lpstr>
      <vt:lpstr>Arial</vt:lpstr>
      <vt:lpstr>Office Theme</vt:lpstr>
      <vt:lpstr>Qn note presentation</vt:lpstr>
      <vt:lpstr>20-minute Presentation KG + LLM</vt:lpstr>
      <vt:lpstr>PowerPoint Presentation</vt:lpstr>
      <vt:lpstr>Whitebox Approach</vt:lpstr>
      <vt:lpstr>Algorithm Description: Multi-Dimensional Semantic Analysis</vt:lpstr>
      <vt:lpstr>Dimension Set A: Contextual Scope Classifiers</vt:lpstr>
      <vt:lpstr>Dimension Set B: Parameter Extraction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Shatad Purohit</dc:creator>
  <cp:lastModifiedBy>Shatad Purohit</cp:lastModifiedBy>
  <cp:revision>2</cp:revision>
  <dcterms:created xsi:type="dcterms:W3CDTF">2025-11-21T01:35:23Z</dcterms:created>
  <dcterms:modified xsi:type="dcterms:W3CDTF">2025-11-21T15:22:14Z</dcterms:modified>
</cp:coreProperties>
</file>